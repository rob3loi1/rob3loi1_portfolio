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3"/>
    <p:sldId id="305" r:id="rId4"/>
    <p:sldId id="259" r:id="rId5"/>
    <p:sldId id="306" r:id="rId6"/>
    <p:sldId id="260" r:id="rId7"/>
    <p:sldId id="286" r:id="rId8"/>
    <p:sldId id="287" r:id="rId9"/>
    <p:sldId id="288" r:id="rId10"/>
    <p:sldId id="289" r:id="rId11"/>
    <p:sldId id="290" r:id="rId12"/>
    <p:sldId id="291" r:id="rId13"/>
    <p:sldId id="292" r:id="rId14"/>
    <p:sldId id="293" r:id="rId15"/>
    <p:sldId id="294" r:id="rId16"/>
    <p:sldId id="295" r:id="rId17"/>
    <p:sldId id="296" r:id="rId18"/>
    <p:sldId id="298" r:id="rId19"/>
    <p:sldId id="299" r:id="rId20"/>
    <p:sldId id="300" r:id="rId21"/>
    <p:sldId id="301" r:id="rId22"/>
    <p:sldId id="302" r:id="rId23"/>
    <p:sldId id="267" r:id="rId24"/>
    <p:sldId id="303" r:id="rId25"/>
    <p:sldId id="276" r:id="rId26"/>
    <p:sldId id="269" r:id="rId27"/>
    <p:sldId id="270" r:id="rId28"/>
    <p:sldId id="273" r:id="rId29"/>
    <p:sldId id="274" r:id="rId30"/>
    <p:sldId id="275" r:id="rId31"/>
    <p:sldId id="277" r:id="rId32"/>
    <p:sldId id="304" r:id="rId33"/>
    <p:sldId id="279"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8" name="Group 7"/>
          <p:cNvGrpSpPr/>
          <p:nvPr/>
        </p:nvGrpSpPr>
        <p:grpSpPr>
          <a:xfrm>
            <a:off x="292735" y="4037965"/>
            <a:ext cx="4192270" cy="2056137"/>
            <a:chOff x="369758" y="3566970"/>
            <a:chExt cx="5974467" cy="2056182"/>
          </a:xfrm>
        </p:grpSpPr>
        <p:sp>
          <p:nvSpPr>
            <p:cNvPr id="11" name="TextBox 16"/>
            <p:cNvSpPr txBox="1"/>
            <p:nvPr/>
          </p:nvSpPr>
          <p:spPr>
            <a:xfrm>
              <a:off x="369759" y="5084660"/>
              <a:ext cx="5974466" cy="538492"/>
            </a:xfrm>
            <a:prstGeom prst="rect">
              <a:avLst/>
            </a:prstGeom>
          </p:spPr>
          <p:txBody>
            <a:bodyPr lIns="0" tIns="0" rIns="0" bIns="0" rtlCol="0" anchor="t">
              <a:spAutoFit/>
            </a:bodyPr>
            <a:p>
              <a:pPr algn="l">
                <a:lnSpc>
                  <a:spcPts val="4200"/>
                </a:lnSpc>
                <a:spcBef>
                  <a:spcPct val="0"/>
                </a:spcBef>
              </a:pPr>
              <a:r>
                <a:rPr lang="en-US" dirty="0">
                  <a:latin typeface="Times New Roman" panose="02020603050405020304" pitchFamily="18" charset="0"/>
                  <a:ea typeface="Poppins"/>
                  <a:cs typeface="Times New Roman" panose="02020603050405020304" pitchFamily="18" charset="0"/>
                  <a:sym typeface="Poppins"/>
                </a:rPr>
                <a:t>ROSHAN LATEEF (963321104044)</a:t>
              </a:r>
              <a:endParaRPr lang="en-US" dirty="0">
                <a:latin typeface="Times New Roman" panose="02020603050405020304" pitchFamily="18" charset="0"/>
                <a:ea typeface="Poppins"/>
                <a:cs typeface="Times New Roman" panose="02020603050405020304" pitchFamily="18" charset="0"/>
                <a:sym typeface="Poppins"/>
              </a:endParaRPr>
            </a:p>
          </p:txBody>
        </p:sp>
        <p:sp>
          <p:nvSpPr>
            <p:cNvPr id="14" name="TextBox 19"/>
            <p:cNvSpPr txBox="1"/>
            <p:nvPr/>
          </p:nvSpPr>
          <p:spPr>
            <a:xfrm>
              <a:off x="369759" y="3566970"/>
              <a:ext cx="5974466" cy="538492"/>
            </a:xfrm>
            <a:prstGeom prst="rect">
              <a:avLst/>
            </a:prstGeom>
          </p:spPr>
          <p:txBody>
            <a:bodyPr lIns="0" tIns="0" rIns="0" bIns="0" rtlCol="0" anchor="t">
              <a:spAutoFit/>
            </a:bodyPr>
            <a:p>
              <a:pPr algn="l">
                <a:lnSpc>
                  <a:spcPts val="4200"/>
                </a:lnSpc>
                <a:spcBef>
                  <a:spcPct val="0"/>
                </a:spcBef>
              </a:pPr>
              <a:r>
                <a:rPr lang="en-US" b="1" dirty="0" smtClean="0">
                  <a:latin typeface="Times New Roman" panose="02020603050405020304" pitchFamily="18" charset="0"/>
                  <a:ea typeface="Poppins Bold"/>
                  <a:cs typeface="Times New Roman" panose="02020603050405020304" pitchFamily="18" charset="0"/>
                  <a:sym typeface="Poppins Bold"/>
                </a:rPr>
                <a:t>PRESENTED </a:t>
              </a:r>
              <a:r>
                <a:rPr lang="en-US" b="1" dirty="0">
                  <a:latin typeface="Times New Roman" panose="02020603050405020304" pitchFamily="18" charset="0"/>
                  <a:ea typeface="Poppins Bold"/>
                  <a:cs typeface="Times New Roman" panose="02020603050405020304" pitchFamily="18" charset="0"/>
                  <a:sym typeface="Poppins Bold"/>
                </a:rPr>
                <a:t>BY:</a:t>
              </a:r>
              <a:endParaRPr lang="en-US" b="1" dirty="0">
                <a:latin typeface="Times New Roman" panose="02020603050405020304" pitchFamily="18" charset="0"/>
                <a:ea typeface="Poppins Bold"/>
                <a:cs typeface="Times New Roman" panose="02020603050405020304" pitchFamily="18" charset="0"/>
                <a:sym typeface="Poppins Bold"/>
              </a:endParaRPr>
            </a:p>
          </p:txBody>
        </p:sp>
        <p:sp>
          <p:nvSpPr>
            <p:cNvPr id="23" name="TextBox 16"/>
            <p:cNvSpPr txBox="1"/>
            <p:nvPr/>
          </p:nvSpPr>
          <p:spPr>
            <a:xfrm>
              <a:off x="369759" y="4695166"/>
              <a:ext cx="5974466" cy="538492"/>
            </a:xfrm>
            <a:prstGeom prst="rect">
              <a:avLst/>
            </a:prstGeom>
          </p:spPr>
          <p:txBody>
            <a:bodyPr lIns="0" tIns="0" rIns="0" bIns="0" rtlCol="0" anchor="t">
              <a:spAutoFit/>
            </a:bodyPr>
            <a:p>
              <a:pPr algn="l">
                <a:lnSpc>
                  <a:spcPts val="4200"/>
                </a:lnSpc>
                <a:spcBef>
                  <a:spcPct val="0"/>
                </a:spcBef>
              </a:pPr>
              <a:r>
                <a:rPr lang="en-US" dirty="0" smtClean="0">
                  <a:latin typeface="Times New Roman" panose="02020603050405020304" pitchFamily="18" charset="0"/>
                  <a:ea typeface="Poppins"/>
                  <a:cs typeface="Times New Roman" panose="02020603050405020304" pitchFamily="18" charset="0"/>
                  <a:sym typeface="Poppins"/>
                </a:rPr>
                <a:t>ROBERT LOITONGBAM (963321104043)</a:t>
              </a:r>
              <a:endParaRPr lang="en-US" dirty="0">
                <a:latin typeface="Times New Roman" panose="02020603050405020304" pitchFamily="18" charset="0"/>
                <a:ea typeface="Poppins"/>
                <a:cs typeface="Times New Roman" panose="02020603050405020304" pitchFamily="18" charset="0"/>
                <a:sym typeface="Poppins"/>
              </a:endParaRPr>
            </a:p>
          </p:txBody>
        </p:sp>
        <p:sp>
          <p:nvSpPr>
            <p:cNvPr id="24" name="TextBox 16"/>
            <p:cNvSpPr txBox="1"/>
            <p:nvPr/>
          </p:nvSpPr>
          <p:spPr>
            <a:xfrm>
              <a:off x="369758" y="4322641"/>
              <a:ext cx="5672161" cy="538492"/>
            </a:xfrm>
            <a:prstGeom prst="rect">
              <a:avLst/>
            </a:prstGeom>
          </p:spPr>
          <p:txBody>
            <a:bodyPr wrap="square" lIns="0" tIns="0" rIns="0" bIns="0" rtlCol="0" anchor="t">
              <a:spAutoFit/>
            </a:bodyPr>
            <a:p>
              <a:pPr algn="l">
                <a:lnSpc>
                  <a:spcPts val="4200"/>
                </a:lnSpc>
                <a:spcBef>
                  <a:spcPct val="0"/>
                </a:spcBef>
              </a:pPr>
              <a:r>
                <a:rPr lang="en-US" dirty="0" smtClean="0">
                  <a:latin typeface="Times New Roman" panose="02020603050405020304" pitchFamily="18" charset="0"/>
                  <a:ea typeface="Poppins"/>
                  <a:cs typeface="Times New Roman" panose="02020603050405020304" pitchFamily="18" charset="0"/>
                  <a:sym typeface="Poppins"/>
                </a:rPr>
                <a:t>JISHNU JINO (963321104028)</a:t>
              </a:r>
              <a:endParaRPr lang="en-US" dirty="0">
                <a:latin typeface="Times New Roman" panose="02020603050405020304" pitchFamily="18" charset="0"/>
                <a:ea typeface="Poppins"/>
                <a:cs typeface="Times New Roman" panose="02020603050405020304" pitchFamily="18" charset="0"/>
                <a:sym typeface="Poppins"/>
              </a:endParaRPr>
            </a:p>
          </p:txBody>
        </p:sp>
        <p:sp>
          <p:nvSpPr>
            <p:cNvPr id="25" name="TextBox 16"/>
            <p:cNvSpPr txBox="1"/>
            <p:nvPr/>
          </p:nvSpPr>
          <p:spPr>
            <a:xfrm>
              <a:off x="369760" y="3956464"/>
              <a:ext cx="5974465" cy="538492"/>
            </a:xfrm>
            <a:prstGeom prst="rect">
              <a:avLst/>
            </a:prstGeom>
          </p:spPr>
          <p:txBody>
            <a:bodyPr lIns="0" tIns="0" rIns="0" bIns="0" rtlCol="0" anchor="t">
              <a:spAutoFit/>
            </a:bodyPr>
            <a:p>
              <a:pPr algn="l">
                <a:lnSpc>
                  <a:spcPts val="4200"/>
                </a:lnSpc>
                <a:spcBef>
                  <a:spcPct val="0"/>
                </a:spcBef>
              </a:pPr>
              <a:r>
                <a:rPr lang="en-US" dirty="0" smtClean="0">
                  <a:latin typeface="Times New Roman" panose="02020603050405020304" pitchFamily="18" charset="0"/>
                  <a:ea typeface="Poppins"/>
                  <a:cs typeface="Times New Roman" panose="02020603050405020304" pitchFamily="18" charset="0"/>
                  <a:sym typeface="Poppins"/>
                </a:rPr>
                <a:t>ALEX HAOBIJAM (963321104005)</a:t>
              </a:r>
              <a:endParaRPr lang="en-US" dirty="0">
                <a:latin typeface="Times New Roman" panose="02020603050405020304" pitchFamily="18" charset="0"/>
                <a:ea typeface="Poppins"/>
                <a:cs typeface="Times New Roman" panose="02020603050405020304" pitchFamily="18" charset="0"/>
                <a:sym typeface="Poppins"/>
              </a:endParaRPr>
            </a:p>
          </p:txBody>
        </p:sp>
      </p:grpSp>
      <p:grpSp>
        <p:nvGrpSpPr>
          <p:cNvPr id="9" name="Group 8"/>
          <p:cNvGrpSpPr/>
          <p:nvPr/>
        </p:nvGrpSpPr>
        <p:grpSpPr>
          <a:xfrm>
            <a:off x="7795851" y="4204299"/>
            <a:ext cx="4298382" cy="1351032"/>
            <a:chOff x="6857614" y="4272109"/>
            <a:chExt cx="5974466" cy="1351032"/>
          </a:xfrm>
        </p:grpSpPr>
        <p:sp>
          <p:nvSpPr>
            <p:cNvPr id="12" name="TextBox 17"/>
            <p:cNvSpPr txBox="1"/>
            <p:nvPr/>
          </p:nvSpPr>
          <p:spPr>
            <a:xfrm>
              <a:off x="6857614" y="4678386"/>
              <a:ext cx="5974466" cy="538480"/>
            </a:xfrm>
            <a:prstGeom prst="rect">
              <a:avLst/>
            </a:prstGeom>
          </p:spPr>
          <p:txBody>
            <a:bodyPr lIns="0" tIns="0" rIns="0" bIns="0" rtlCol="0" anchor="t">
              <a:spAutoFit/>
            </a:bodyPr>
            <a:p>
              <a:pPr algn="l">
                <a:lnSpc>
                  <a:spcPts val="4200"/>
                </a:lnSpc>
                <a:spcBef>
                  <a:spcPct val="0"/>
                </a:spcBef>
              </a:pPr>
              <a:r>
                <a:rPr lang="en-US" dirty="0">
                  <a:latin typeface="Times New Roman" panose="02020603050405020304" pitchFamily="18" charset="0"/>
                  <a:ea typeface="Poppins"/>
                  <a:cs typeface="Times New Roman" panose="02020603050405020304" pitchFamily="18" charset="0"/>
                  <a:sym typeface="Poppins"/>
                </a:rPr>
                <a:t>Dr.M.SANTHANAKUMAR</a:t>
              </a:r>
              <a:endParaRPr lang="en-US" dirty="0">
                <a:latin typeface="Times New Roman" panose="02020603050405020304" pitchFamily="18" charset="0"/>
                <a:ea typeface="Poppins"/>
                <a:cs typeface="Times New Roman" panose="02020603050405020304" pitchFamily="18" charset="0"/>
                <a:sym typeface="Poppins"/>
              </a:endParaRPr>
            </a:p>
          </p:txBody>
        </p:sp>
        <p:sp>
          <p:nvSpPr>
            <p:cNvPr id="13" name="TextBox 18"/>
            <p:cNvSpPr txBox="1"/>
            <p:nvPr/>
          </p:nvSpPr>
          <p:spPr>
            <a:xfrm>
              <a:off x="6857614" y="4272109"/>
              <a:ext cx="5974466" cy="538609"/>
            </a:xfrm>
            <a:prstGeom prst="rect">
              <a:avLst/>
            </a:prstGeom>
          </p:spPr>
          <p:txBody>
            <a:bodyPr lIns="0" tIns="0" rIns="0" bIns="0" rtlCol="0" anchor="t">
              <a:spAutoFit/>
            </a:bodyPr>
            <a:p>
              <a:pPr algn="l">
                <a:lnSpc>
                  <a:spcPts val="4200"/>
                </a:lnSpc>
                <a:spcBef>
                  <a:spcPct val="0"/>
                </a:spcBef>
              </a:pPr>
              <a:r>
                <a:rPr lang="en-US" b="1">
                  <a:latin typeface="Times New Roman" panose="02020603050405020304" pitchFamily="18" charset="0"/>
                  <a:ea typeface="Poppins Bold"/>
                  <a:cs typeface="Times New Roman" panose="02020603050405020304" pitchFamily="18" charset="0"/>
                  <a:sym typeface="Poppins Bold"/>
                </a:rPr>
                <a:t>SUPERVISOR:</a:t>
              </a:r>
              <a:endParaRPr lang="en-US" b="1">
                <a:latin typeface="Times New Roman" panose="02020603050405020304" pitchFamily="18" charset="0"/>
                <a:ea typeface="Poppins Bold"/>
                <a:cs typeface="Times New Roman" panose="02020603050405020304" pitchFamily="18" charset="0"/>
                <a:sym typeface="Poppins Bold"/>
              </a:endParaRPr>
            </a:p>
          </p:txBody>
        </p:sp>
        <p:sp>
          <p:nvSpPr>
            <p:cNvPr id="15" name="TextBox 20"/>
            <p:cNvSpPr txBox="1"/>
            <p:nvPr/>
          </p:nvSpPr>
          <p:spPr>
            <a:xfrm>
              <a:off x="6857614" y="5084661"/>
              <a:ext cx="5974466" cy="538480"/>
            </a:xfrm>
            <a:prstGeom prst="rect">
              <a:avLst/>
            </a:prstGeom>
          </p:spPr>
          <p:txBody>
            <a:bodyPr lIns="0" tIns="0" rIns="0" bIns="0" rtlCol="0" anchor="t">
              <a:spAutoFit/>
            </a:bodyPr>
            <a:p>
              <a:pPr algn="l">
                <a:lnSpc>
                  <a:spcPts val="4200"/>
                </a:lnSpc>
                <a:spcBef>
                  <a:spcPct val="0"/>
                </a:spcBef>
              </a:pPr>
              <a:r>
                <a:rPr lang="en-US" dirty="0">
                  <a:latin typeface="Times New Roman" panose="02020603050405020304" pitchFamily="18" charset="0"/>
                  <a:ea typeface="Poppins"/>
                  <a:cs typeface="Times New Roman" panose="02020603050405020304" pitchFamily="18" charset="0"/>
                  <a:sym typeface="Poppins"/>
                </a:rPr>
                <a:t>PROFESSOR/CSE</a:t>
              </a:r>
              <a:endParaRPr lang="en-US" dirty="0">
                <a:latin typeface="Times New Roman" panose="02020603050405020304" pitchFamily="18" charset="0"/>
                <a:ea typeface="Poppins"/>
                <a:cs typeface="Times New Roman" panose="02020603050405020304" pitchFamily="18" charset="0"/>
                <a:sym typeface="Poppins"/>
              </a:endParaRPr>
            </a:p>
          </p:txBody>
        </p:sp>
      </p:grpSp>
      <p:sp>
        <p:nvSpPr>
          <p:cNvPr id="16" name="TextBox 21"/>
          <p:cNvSpPr txBox="1"/>
          <p:nvPr/>
        </p:nvSpPr>
        <p:spPr>
          <a:xfrm>
            <a:off x="635" y="6094095"/>
            <a:ext cx="12191365" cy="538480"/>
          </a:xfrm>
          <a:prstGeom prst="rect">
            <a:avLst/>
          </a:prstGeom>
        </p:spPr>
        <p:txBody>
          <a:bodyPr wrap="square" lIns="0" tIns="0" rIns="0" bIns="0" rtlCol="0" anchor="t">
            <a:spAutoFit/>
          </a:bodyPr>
          <a:p>
            <a:pPr algn="ctr">
              <a:lnSpc>
                <a:spcPts val="4200"/>
              </a:lnSpc>
              <a:spcBef>
                <a:spcPct val="0"/>
              </a:spcBef>
            </a:pPr>
            <a:r>
              <a:rPr lang="en-US" b="1" dirty="0">
                <a:latin typeface="Times New Roman" panose="02020603050405020304" pitchFamily="18" charset="0"/>
                <a:ea typeface="Poppins Bold"/>
                <a:cs typeface="Times New Roman" panose="02020603050405020304" pitchFamily="18" charset="0"/>
                <a:sym typeface="Poppins Bold"/>
              </a:rPr>
              <a:t>PRESENTED ON:</a:t>
            </a:r>
            <a:r>
              <a:rPr lang="en-US" dirty="0">
                <a:latin typeface="Times New Roman" panose="02020603050405020304" pitchFamily="18" charset="0"/>
                <a:ea typeface="Poppins"/>
                <a:cs typeface="Times New Roman" panose="02020603050405020304" pitchFamily="18" charset="0"/>
                <a:sym typeface="Poppins"/>
              </a:rPr>
              <a:t>  </a:t>
            </a:r>
            <a:r>
              <a:rPr lang="en-IN" altLang="en-US" dirty="0">
                <a:latin typeface="Times New Roman" panose="02020603050405020304" pitchFamily="18" charset="0"/>
                <a:ea typeface="Poppins"/>
                <a:cs typeface="Times New Roman" panose="02020603050405020304" pitchFamily="18" charset="0"/>
                <a:sym typeface="Poppins"/>
              </a:rPr>
              <a:t>09</a:t>
            </a:r>
            <a:r>
              <a:rPr lang="en-US" dirty="0" smtClean="0">
                <a:latin typeface="Times New Roman" panose="02020603050405020304" pitchFamily="18" charset="0"/>
                <a:ea typeface="Poppins"/>
                <a:cs typeface="Times New Roman" panose="02020603050405020304" pitchFamily="18" charset="0"/>
                <a:sym typeface="Poppins"/>
              </a:rPr>
              <a:t> </a:t>
            </a:r>
            <a:r>
              <a:rPr lang="en-US" dirty="0">
                <a:latin typeface="Times New Roman" panose="02020603050405020304" pitchFamily="18" charset="0"/>
                <a:ea typeface="Poppins"/>
                <a:cs typeface="Times New Roman" panose="02020603050405020304" pitchFamily="18" charset="0"/>
                <a:sym typeface="Poppins"/>
              </a:rPr>
              <a:t>- 0</a:t>
            </a:r>
            <a:r>
              <a:rPr lang="en-IN" altLang="en-US" dirty="0">
                <a:latin typeface="Times New Roman" panose="02020603050405020304" pitchFamily="18" charset="0"/>
                <a:ea typeface="Poppins"/>
                <a:cs typeface="Times New Roman" panose="02020603050405020304" pitchFamily="18" charset="0"/>
                <a:sym typeface="Poppins"/>
              </a:rPr>
              <a:t>5</a:t>
            </a:r>
            <a:r>
              <a:rPr lang="en-US" dirty="0">
                <a:latin typeface="Times New Roman" panose="02020603050405020304" pitchFamily="18" charset="0"/>
                <a:ea typeface="Poppins"/>
                <a:cs typeface="Times New Roman" panose="02020603050405020304" pitchFamily="18" charset="0"/>
                <a:sym typeface="Poppins"/>
              </a:rPr>
              <a:t> -2025</a:t>
            </a:r>
            <a:endParaRPr lang="en-US" dirty="0">
              <a:latin typeface="Times New Roman" panose="02020603050405020304" pitchFamily="18" charset="0"/>
              <a:ea typeface="Poppins"/>
              <a:cs typeface="Times New Roman" panose="02020603050405020304" pitchFamily="18" charset="0"/>
              <a:sym typeface="Poppins"/>
            </a:endParaRPr>
          </a:p>
        </p:txBody>
      </p:sp>
      <p:sp>
        <p:nvSpPr>
          <p:cNvPr id="10" name="Text Box 9"/>
          <p:cNvSpPr txBox="1"/>
          <p:nvPr/>
        </p:nvSpPr>
        <p:spPr>
          <a:xfrm>
            <a:off x="635" y="231140"/>
            <a:ext cx="12192000" cy="2025650"/>
          </a:xfrm>
          <a:prstGeom prst="rect">
            <a:avLst/>
          </a:prstGeom>
          <a:noFill/>
        </p:spPr>
        <p:txBody>
          <a:bodyPr wrap="square" rtlCol="0">
            <a:noAutofit/>
          </a:bodyPr>
          <a:p>
            <a:pPr algn="ctr">
              <a:lnSpc>
                <a:spcPct val="70000"/>
              </a:lnSpc>
            </a:pPr>
            <a:r>
              <a:rPr lang="en-US" b="1" dirty="0">
                <a:latin typeface="Times New Roman" panose="02020603050405020304" pitchFamily="18" charset="0"/>
                <a:cs typeface="Times New Roman" panose="02020603050405020304" pitchFamily="18" charset="0"/>
                <a:sym typeface="+mn-ea"/>
              </a:rPr>
              <a:t>ROHINI COLLEGE OF ENGINEERING AND TECHNOLOGY</a:t>
            </a:r>
            <a:endParaRPr lang="en-US" b="1" dirty="0">
              <a:latin typeface="Times New Roman" panose="02020603050405020304" pitchFamily="18" charset="0"/>
              <a:cs typeface="Times New Roman" panose="02020603050405020304" pitchFamily="18" charset="0"/>
              <a:sym typeface="+mn-ea"/>
            </a:endParaRPr>
          </a:p>
          <a:p>
            <a:pPr algn="ctr">
              <a:lnSpc>
                <a:spcPct val="70000"/>
              </a:lnSpc>
            </a:pPr>
            <a:br>
              <a:rPr lang="en-US" b="1" dirty="0">
                <a:latin typeface="Times New Roman" panose="02020603050405020304" pitchFamily="18" charset="0"/>
                <a:cs typeface="Times New Roman" panose="02020603050405020304" pitchFamily="18" charset="0"/>
                <a:sym typeface="+mn-ea"/>
              </a:rPr>
            </a:br>
            <a:r>
              <a:rPr lang="en-US" b="1" dirty="0">
                <a:latin typeface="Times New Roman" panose="02020603050405020304" pitchFamily="18" charset="0"/>
                <a:cs typeface="Times New Roman" panose="02020603050405020304" pitchFamily="18" charset="0"/>
                <a:sym typeface="+mn-ea"/>
              </a:rPr>
              <a:t> (AUTONOUMOUS</a:t>
            </a:r>
            <a:r>
              <a:rPr lang="en-US" dirty="0">
                <a:latin typeface="Times New Roman" panose="02020603050405020304" pitchFamily="18" charset="0"/>
                <a:cs typeface="Times New Roman" panose="02020603050405020304" pitchFamily="18" charset="0"/>
                <a:sym typeface="+mn-ea"/>
              </a:rPr>
              <a:t>) </a:t>
            </a:r>
            <a:endParaRPr lang="en-US" dirty="0">
              <a:latin typeface="Times New Roman" panose="02020603050405020304" pitchFamily="18" charset="0"/>
              <a:cs typeface="Times New Roman" panose="02020603050405020304" pitchFamily="18" charset="0"/>
              <a:sym typeface="+mn-ea"/>
            </a:endParaRPr>
          </a:p>
          <a:p>
            <a:pPr algn="ctr">
              <a:lnSpc>
                <a:spcPct val="70000"/>
              </a:lnSpc>
            </a:pPr>
            <a:br>
              <a:rPr lang="en-US" dirty="0">
                <a:latin typeface="Times New Roman" panose="02020603050405020304" pitchFamily="18" charset="0"/>
                <a:cs typeface="Times New Roman" panose="02020603050405020304" pitchFamily="18" charset="0"/>
                <a:sym typeface="+mn-ea"/>
              </a:rPr>
            </a:br>
            <a:r>
              <a:rPr lang="en-US" b="1" dirty="0">
                <a:latin typeface="Times New Roman" panose="02020603050405020304" pitchFamily="18" charset="0"/>
                <a:cs typeface="Times New Roman" panose="02020603050405020304" pitchFamily="18" charset="0"/>
                <a:sym typeface="+mn-ea"/>
              </a:rPr>
              <a:t>BACHELOR OF ENGINEERING IN COMPUTER SCIENCE</a:t>
            </a:r>
            <a:r>
              <a:rPr lang="en-IN" altLang="en-US" b="1" dirty="0">
                <a:latin typeface="Times New Roman" panose="02020603050405020304" pitchFamily="18" charset="0"/>
                <a:cs typeface="Times New Roman" panose="02020603050405020304" pitchFamily="18" charset="0"/>
                <a:sym typeface="+mn-ea"/>
              </a:rPr>
              <a:t> AND ENGINEERING</a:t>
            </a:r>
            <a:endParaRPr lang="en-US" b="1" dirty="0">
              <a:latin typeface="Times New Roman" panose="02020603050405020304" pitchFamily="18" charset="0"/>
              <a:cs typeface="Times New Roman" panose="02020603050405020304" pitchFamily="18" charset="0"/>
              <a:sym typeface="+mn-ea"/>
            </a:endParaRPr>
          </a:p>
          <a:p>
            <a:pPr algn="ctr">
              <a:lnSpc>
                <a:spcPct val="70000"/>
              </a:lnSpc>
            </a:pPr>
            <a:br>
              <a:rPr lang="en-US" b="1" dirty="0">
                <a:latin typeface="Times New Roman" panose="02020603050405020304" pitchFamily="18" charset="0"/>
                <a:cs typeface="Times New Roman" panose="02020603050405020304" pitchFamily="18" charset="0"/>
                <a:sym typeface="+mn-ea"/>
              </a:rPr>
            </a:br>
            <a:r>
              <a:rPr lang="en-US" b="1" dirty="0">
                <a:latin typeface="Times New Roman" panose="02020603050405020304" pitchFamily="18" charset="0"/>
                <a:cs typeface="Times New Roman" panose="02020603050405020304" pitchFamily="18" charset="0"/>
                <a:sym typeface="+mn-ea"/>
              </a:rPr>
              <a:t> PROJECT FINAL VIVA VOCE</a:t>
            </a:r>
            <a:endParaRPr lang="en-US" b="1" dirty="0">
              <a:latin typeface="Times New Roman" panose="02020603050405020304" pitchFamily="18" charset="0"/>
              <a:cs typeface="Times New Roman" panose="02020603050405020304" pitchFamily="18" charset="0"/>
              <a:sym typeface="+mn-ea"/>
            </a:endParaRPr>
          </a:p>
          <a:p>
            <a:pPr algn="ctr">
              <a:lnSpc>
                <a:spcPct val="70000"/>
              </a:lnSpc>
            </a:pPr>
            <a:endParaRPr lang="en-US" b="1" dirty="0">
              <a:latin typeface="Times New Roman" panose="02020603050405020304" pitchFamily="18" charset="0"/>
              <a:cs typeface="Times New Roman" panose="02020603050405020304" pitchFamily="18" charset="0"/>
              <a:sym typeface="+mn-ea"/>
            </a:endParaRPr>
          </a:p>
          <a:p>
            <a:pPr algn="ctr">
              <a:lnSpc>
                <a:spcPct val="70000"/>
              </a:lnSpc>
            </a:pPr>
            <a:endParaRPr lang="en-US" b="1" dirty="0">
              <a:latin typeface="Times New Roman" panose="02020603050405020304" pitchFamily="18" charset="0"/>
              <a:cs typeface="Times New Roman" panose="02020603050405020304" pitchFamily="18" charset="0"/>
              <a:sym typeface="+mn-ea"/>
            </a:endParaRPr>
          </a:p>
          <a:p>
            <a:pPr algn="ctr">
              <a:lnSpc>
                <a:spcPct val="70000"/>
              </a:lnSpc>
            </a:pPr>
            <a:r>
              <a:rPr lang="en-IN" altLang="en-US" b="1" dirty="0">
                <a:latin typeface="Times New Roman" panose="02020603050405020304" pitchFamily="18" charset="0"/>
                <a:cs typeface="Times New Roman" panose="02020603050405020304" pitchFamily="18" charset="0"/>
                <a:sym typeface="+mn-ea"/>
              </a:rPr>
              <a:t>TITLE : ADVANCE AND SECURE WEB-BASED AUCTION SYSTEM</a:t>
            </a:r>
            <a:endParaRPr lang="en-US" b="1" dirty="0">
              <a:latin typeface="Times New Roman" panose="02020603050405020304" pitchFamily="18" charset="0"/>
              <a:cs typeface="Times New Roman" panose="02020603050405020304" pitchFamily="18" charset="0"/>
              <a:sym typeface="+mn-ea"/>
            </a:endParaRPr>
          </a:p>
          <a:p>
            <a:pPr algn="ctr"/>
            <a:endParaRPr lang="en-US"/>
          </a:p>
        </p:txBody>
      </p:sp>
      <p:sp>
        <p:nvSpPr>
          <p:cNvPr id="17" name="Rectangle 12"/>
          <p:cNvSpPr/>
          <p:nvPr/>
        </p:nvSpPr>
        <p:spPr>
          <a:xfrm>
            <a:off x="4833926" y="2480117"/>
            <a:ext cx="2343807" cy="1947198"/>
          </a:xfrm>
          <a:prstGeom prst="rect">
            <a:avLst/>
          </a:prstGeom>
          <a:blipFill dpi="0" rotWithShape="1">
            <a:blip r:embed="rId1">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dirty="0"/>
              <a:t>\</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Placeholder 2"/>
          <p:cNvSpPr txBox="1"/>
          <p:nvPr/>
        </p:nvSpPr>
        <p:spPr>
          <a:xfrm>
            <a:off x="3048635" y="463550"/>
            <a:ext cx="6095365" cy="586740"/>
          </a:xfrm>
          <a:prstGeom prst="rect">
            <a:avLst/>
          </a:prstGeom>
        </p:spPr>
        <p:txBody>
          <a:bodyPr>
            <a:norm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buNone/>
            </a:pPr>
            <a:r>
              <a:rPr lang="en-US" sz="2800" b="1" dirty="0">
                <a:latin typeface="Times New Roman" panose="02020603050405020304" pitchFamily="18" charset="0"/>
                <a:cs typeface="Times New Roman" panose="02020603050405020304" pitchFamily="18" charset="0"/>
              </a:rPr>
              <a:t>AGENDA </a:t>
            </a:r>
            <a:endParaRPr lang="en-US" sz="2800"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3048635" y="1274445"/>
            <a:ext cx="6094730" cy="5583555"/>
          </a:xfrm>
          <a:prstGeom prst="rect">
            <a:avLst/>
          </a:prstGeom>
          <a:noFill/>
        </p:spPr>
        <p:txBody>
          <a:bodyPr wrap="square">
            <a:noAutofit/>
          </a:bodyPr>
          <a:p>
            <a:pPr marL="342900" indent="-342900" algn="l">
              <a:buAutoNum type="arabicPeriod"/>
            </a:pPr>
            <a:r>
              <a:rPr lang="en-US" sz="1400" b="1" dirty="0">
                <a:latin typeface="Times New Roman" panose="02020603050405020304" pitchFamily="18" charset="0"/>
                <a:cs typeface="Times New Roman" panose="02020603050405020304" pitchFamily="18" charset="0"/>
              </a:rPr>
              <a:t>Abstract</a:t>
            </a:r>
            <a:endParaRPr lang="en-US" sz="1400" b="1" dirty="0">
              <a:latin typeface="Times New Roman" panose="02020603050405020304" pitchFamily="18" charset="0"/>
              <a:cs typeface="Times New Roman" panose="02020603050405020304" pitchFamily="18" charset="0"/>
            </a:endParaRPr>
          </a:p>
          <a:p>
            <a:pPr marL="342900" indent="-342900" algn="l">
              <a:buAutoNum type="arabicPeriod"/>
            </a:pPr>
            <a:endParaRPr lang="en-US" sz="1400" b="1" dirty="0">
              <a:latin typeface="Times New Roman" panose="02020603050405020304" pitchFamily="18" charset="0"/>
              <a:cs typeface="Times New Roman" panose="02020603050405020304" pitchFamily="18" charset="0"/>
            </a:endParaRPr>
          </a:p>
          <a:p>
            <a:pPr marL="342900" indent="-342900" algn="l">
              <a:buAutoNum type="arabicPeriod"/>
            </a:pPr>
            <a:r>
              <a:rPr lang="en-US" sz="1400" b="1" dirty="0">
                <a:latin typeface="Times New Roman" panose="02020603050405020304" pitchFamily="18" charset="0"/>
                <a:cs typeface="Times New Roman" panose="02020603050405020304" pitchFamily="18" charset="0"/>
              </a:rPr>
              <a:t>Introduction</a:t>
            </a:r>
            <a:endParaRPr lang="en-US" sz="1400" b="1" dirty="0">
              <a:latin typeface="Times New Roman" panose="02020603050405020304" pitchFamily="18" charset="0"/>
              <a:cs typeface="Times New Roman" panose="02020603050405020304" pitchFamily="18" charset="0"/>
            </a:endParaRPr>
          </a:p>
          <a:p>
            <a:pPr marL="342900" indent="-342900" algn="l">
              <a:buAutoNum type="arabicPeriod"/>
            </a:pPr>
            <a:endParaRPr lang="en-US" sz="1400" b="1" dirty="0">
              <a:latin typeface="Times New Roman" panose="02020603050405020304" pitchFamily="18" charset="0"/>
              <a:cs typeface="Times New Roman" panose="02020603050405020304" pitchFamily="18" charset="0"/>
            </a:endParaRPr>
          </a:p>
          <a:p>
            <a:pPr marL="342900" indent="-342900" algn="l">
              <a:buAutoNum type="arabicPeriod"/>
            </a:pPr>
            <a:r>
              <a:rPr lang="en-US" sz="1400" b="1" dirty="0">
                <a:latin typeface="Times New Roman" panose="02020603050405020304" pitchFamily="18" charset="0"/>
                <a:cs typeface="Times New Roman" panose="02020603050405020304" pitchFamily="18" charset="0"/>
              </a:rPr>
              <a:t>Objectives</a:t>
            </a:r>
            <a:endParaRPr lang="en-US" sz="1400" b="1" dirty="0">
              <a:latin typeface="Times New Roman" panose="02020603050405020304" pitchFamily="18" charset="0"/>
              <a:cs typeface="Times New Roman" panose="02020603050405020304" pitchFamily="18" charset="0"/>
            </a:endParaRPr>
          </a:p>
          <a:p>
            <a:pPr marL="342900" indent="-342900" algn="l">
              <a:buAutoNum type="arabicPeriod"/>
            </a:pPr>
            <a:endParaRPr lang="en-US" sz="1400" b="1" dirty="0">
              <a:latin typeface="Times New Roman" panose="02020603050405020304" pitchFamily="18" charset="0"/>
              <a:cs typeface="Times New Roman" panose="02020603050405020304" pitchFamily="18" charset="0"/>
            </a:endParaRPr>
          </a:p>
          <a:p>
            <a:pPr marL="342900" indent="-342900" algn="l">
              <a:buAutoNum type="arabicPeriod"/>
            </a:pPr>
            <a:r>
              <a:rPr lang="en-US" sz="1400" b="1" dirty="0">
                <a:latin typeface="Times New Roman" panose="02020603050405020304" pitchFamily="18" charset="0"/>
                <a:cs typeface="Times New Roman" panose="02020603050405020304" pitchFamily="18" charset="0"/>
              </a:rPr>
              <a:t>Literature Survey</a:t>
            </a:r>
            <a:endParaRPr lang="en-US" sz="1400" b="1" dirty="0">
              <a:latin typeface="Times New Roman" panose="02020603050405020304" pitchFamily="18" charset="0"/>
              <a:cs typeface="Times New Roman" panose="02020603050405020304" pitchFamily="18" charset="0"/>
            </a:endParaRPr>
          </a:p>
          <a:p>
            <a:pPr marL="342900" indent="-342900" algn="l">
              <a:buAutoNum type="arabicPeriod"/>
            </a:pPr>
            <a:endParaRPr lang="en-US" sz="1400" b="1" dirty="0">
              <a:latin typeface="Times New Roman" panose="02020603050405020304" pitchFamily="18" charset="0"/>
              <a:cs typeface="Times New Roman" panose="02020603050405020304" pitchFamily="18" charset="0"/>
            </a:endParaRPr>
          </a:p>
          <a:p>
            <a:pPr marL="342900" indent="-342900" algn="l">
              <a:buAutoNum type="arabicPeriod"/>
            </a:pPr>
            <a:r>
              <a:rPr lang="en-US" sz="1400" b="1" dirty="0">
                <a:latin typeface="Times New Roman" panose="02020603050405020304" pitchFamily="18" charset="0"/>
                <a:cs typeface="Times New Roman" panose="02020603050405020304" pitchFamily="18" charset="0"/>
              </a:rPr>
              <a:t>Existing System</a:t>
            </a:r>
            <a:endParaRPr lang="en-US" sz="1400" b="1" dirty="0">
              <a:latin typeface="Times New Roman" panose="02020603050405020304" pitchFamily="18" charset="0"/>
              <a:cs typeface="Times New Roman" panose="02020603050405020304" pitchFamily="18" charset="0"/>
            </a:endParaRPr>
          </a:p>
          <a:p>
            <a:pPr marL="342900" indent="-342900" algn="l">
              <a:buAutoNum type="arabicPeriod"/>
            </a:pPr>
            <a:endParaRPr lang="en-US" sz="1400" b="1" dirty="0">
              <a:latin typeface="Times New Roman" panose="02020603050405020304" pitchFamily="18" charset="0"/>
              <a:cs typeface="Times New Roman" panose="02020603050405020304" pitchFamily="18" charset="0"/>
            </a:endParaRPr>
          </a:p>
          <a:p>
            <a:pPr marL="342900" indent="-342900" algn="l">
              <a:buAutoNum type="arabicPeriod"/>
            </a:pPr>
            <a:r>
              <a:rPr lang="en-US" sz="1400" b="1" dirty="0">
                <a:latin typeface="Times New Roman" panose="02020603050405020304" pitchFamily="18" charset="0"/>
                <a:cs typeface="Times New Roman" panose="02020603050405020304" pitchFamily="18" charset="0"/>
              </a:rPr>
              <a:t>Proposed System</a:t>
            </a:r>
            <a:endParaRPr lang="en-US" sz="1400" b="1" dirty="0">
              <a:latin typeface="Times New Roman" panose="02020603050405020304" pitchFamily="18" charset="0"/>
              <a:cs typeface="Times New Roman" panose="02020603050405020304" pitchFamily="18" charset="0"/>
            </a:endParaRPr>
          </a:p>
          <a:p>
            <a:pPr marL="342900" indent="-342900" algn="l">
              <a:buAutoNum type="arabicPeriod"/>
            </a:pPr>
            <a:endParaRPr lang="en-US" sz="1400" b="1" dirty="0">
              <a:latin typeface="Times New Roman" panose="02020603050405020304" pitchFamily="18" charset="0"/>
              <a:cs typeface="Times New Roman" panose="02020603050405020304" pitchFamily="18" charset="0"/>
            </a:endParaRPr>
          </a:p>
          <a:p>
            <a:pPr marL="342900" indent="-342900" algn="l">
              <a:buAutoNum type="arabicPeriod"/>
            </a:pPr>
            <a:r>
              <a:rPr lang="en-IN" altLang="en-US" sz="1400" b="1" dirty="0">
                <a:latin typeface="Times New Roman" panose="02020603050405020304" pitchFamily="18" charset="0"/>
                <a:cs typeface="Times New Roman" panose="02020603050405020304" pitchFamily="18" charset="0"/>
              </a:rPr>
              <a:t>Methodology used</a:t>
            </a:r>
            <a:endParaRPr lang="en-US" sz="1400" b="1" dirty="0">
              <a:latin typeface="Times New Roman" panose="02020603050405020304" pitchFamily="18" charset="0"/>
              <a:cs typeface="Times New Roman" panose="02020603050405020304" pitchFamily="18" charset="0"/>
            </a:endParaRPr>
          </a:p>
          <a:p>
            <a:pPr marL="342900" indent="-342900" algn="l">
              <a:buAutoNum type="arabicPeriod"/>
            </a:pPr>
            <a:endParaRPr lang="en-US" sz="1400" b="1" dirty="0">
              <a:latin typeface="Times New Roman" panose="02020603050405020304" pitchFamily="18" charset="0"/>
              <a:cs typeface="Times New Roman" panose="02020603050405020304" pitchFamily="18" charset="0"/>
            </a:endParaRPr>
          </a:p>
          <a:p>
            <a:pPr marL="342900" indent="-342900" algn="l">
              <a:buAutoNum type="arabicPeriod"/>
            </a:pPr>
            <a:r>
              <a:rPr lang="en-US" sz="1400" b="1" dirty="0">
                <a:latin typeface="Times New Roman" panose="02020603050405020304" pitchFamily="18" charset="0"/>
                <a:cs typeface="Times New Roman" panose="02020603050405020304" pitchFamily="18" charset="0"/>
              </a:rPr>
              <a:t>Architecture</a:t>
            </a:r>
            <a:endParaRPr lang="en-US" sz="1400" b="1" dirty="0">
              <a:latin typeface="Times New Roman" panose="02020603050405020304" pitchFamily="18" charset="0"/>
              <a:cs typeface="Times New Roman" panose="02020603050405020304" pitchFamily="18" charset="0"/>
            </a:endParaRPr>
          </a:p>
          <a:p>
            <a:pPr marL="342900" indent="-342900" algn="l">
              <a:buAutoNum type="arabicPeriod"/>
            </a:pPr>
            <a:endParaRPr lang="en-US" sz="1400" b="1" dirty="0">
              <a:latin typeface="Times New Roman" panose="02020603050405020304" pitchFamily="18" charset="0"/>
              <a:cs typeface="Times New Roman" panose="02020603050405020304" pitchFamily="18" charset="0"/>
            </a:endParaRPr>
          </a:p>
          <a:p>
            <a:pPr marL="342900" indent="-342900" algn="l">
              <a:buAutoNum type="arabicPeriod"/>
            </a:pPr>
            <a:r>
              <a:rPr lang="en-US" sz="1400" b="1" dirty="0">
                <a:latin typeface="Times New Roman" panose="02020603050405020304" pitchFamily="18" charset="0"/>
                <a:cs typeface="Times New Roman" panose="02020603050405020304" pitchFamily="18" charset="0"/>
              </a:rPr>
              <a:t>Modules</a:t>
            </a:r>
            <a:endParaRPr lang="en-US" sz="1400" b="1" dirty="0">
              <a:latin typeface="Times New Roman" panose="02020603050405020304" pitchFamily="18" charset="0"/>
              <a:cs typeface="Times New Roman" panose="02020603050405020304" pitchFamily="18" charset="0"/>
            </a:endParaRPr>
          </a:p>
          <a:p>
            <a:pPr marL="342900" indent="-342900" algn="l">
              <a:buAutoNum type="arabicPeriod"/>
            </a:pPr>
            <a:endParaRPr lang="en-US" sz="1400" b="1" dirty="0">
              <a:latin typeface="Times New Roman" panose="02020603050405020304" pitchFamily="18" charset="0"/>
              <a:cs typeface="Times New Roman" panose="02020603050405020304" pitchFamily="18" charset="0"/>
            </a:endParaRPr>
          </a:p>
          <a:p>
            <a:pPr marL="342900" indent="-342900" algn="l">
              <a:buAutoNum type="arabicPeriod"/>
            </a:pPr>
            <a:r>
              <a:rPr lang="en-US" sz="1400" b="1" dirty="0">
                <a:latin typeface="Times New Roman" panose="02020603050405020304" pitchFamily="18" charset="0"/>
                <a:cs typeface="Times New Roman" panose="02020603050405020304" pitchFamily="18" charset="0"/>
              </a:rPr>
              <a:t>Snapshot</a:t>
            </a:r>
            <a:r>
              <a:rPr lang="en-IN" altLang="en-US" sz="1400" b="1" dirty="0">
                <a:latin typeface="Times New Roman" panose="02020603050405020304" pitchFamily="18" charset="0"/>
                <a:cs typeface="Times New Roman" panose="02020603050405020304" pitchFamily="18" charset="0"/>
              </a:rPr>
              <a:t>s</a:t>
            </a:r>
            <a:r>
              <a:rPr lang="en-US" sz="1400" b="1" dirty="0">
                <a:latin typeface="Times New Roman" panose="02020603050405020304" pitchFamily="18" charset="0"/>
                <a:cs typeface="Times New Roman" panose="02020603050405020304" pitchFamily="18" charset="0"/>
              </a:rPr>
              <a:t> </a:t>
            </a:r>
            <a:endParaRPr lang="en-US" sz="1400" b="1" dirty="0">
              <a:latin typeface="Times New Roman" panose="02020603050405020304" pitchFamily="18" charset="0"/>
              <a:cs typeface="Times New Roman" panose="02020603050405020304" pitchFamily="18" charset="0"/>
            </a:endParaRPr>
          </a:p>
          <a:p>
            <a:pPr marL="342900" indent="-342900" algn="l">
              <a:buAutoNum type="arabicPeriod"/>
            </a:pPr>
            <a:endParaRPr lang="en-US" sz="1400" b="1" dirty="0">
              <a:latin typeface="Times New Roman" panose="02020603050405020304" pitchFamily="18" charset="0"/>
              <a:cs typeface="Times New Roman" panose="02020603050405020304" pitchFamily="18" charset="0"/>
            </a:endParaRPr>
          </a:p>
          <a:p>
            <a:pPr marL="342900" indent="-342900" algn="l">
              <a:buAutoNum type="arabicPeriod"/>
            </a:pPr>
            <a:r>
              <a:rPr lang="en-US" sz="1400" b="1" dirty="0">
                <a:latin typeface="Times New Roman" panose="02020603050405020304" pitchFamily="18" charset="0"/>
                <a:cs typeface="Times New Roman" panose="02020603050405020304" pitchFamily="18" charset="0"/>
              </a:rPr>
              <a:t>Conclusion </a:t>
            </a:r>
            <a:endParaRPr lang="en-US" sz="1400" b="1" dirty="0">
              <a:latin typeface="Times New Roman" panose="02020603050405020304" pitchFamily="18" charset="0"/>
              <a:cs typeface="Times New Roman" panose="02020603050405020304" pitchFamily="18" charset="0"/>
            </a:endParaRPr>
          </a:p>
          <a:p>
            <a:pPr marL="342900" indent="-342900" algn="l">
              <a:buAutoNum type="arabicPeriod"/>
            </a:pPr>
            <a:endParaRPr lang="en-US" sz="1400" b="1" dirty="0">
              <a:latin typeface="Times New Roman" panose="02020603050405020304" pitchFamily="18" charset="0"/>
              <a:cs typeface="Times New Roman" panose="02020603050405020304" pitchFamily="18" charset="0"/>
            </a:endParaRPr>
          </a:p>
          <a:p>
            <a:pPr marL="342900" indent="-342900" algn="l">
              <a:buAutoNum type="arabicPeriod"/>
            </a:pPr>
            <a:r>
              <a:rPr lang="en-US" sz="1400" b="1" dirty="0">
                <a:latin typeface="Times New Roman" panose="02020603050405020304" pitchFamily="18" charset="0"/>
                <a:cs typeface="Times New Roman" panose="02020603050405020304" pitchFamily="18" charset="0"/>
              </a:rPr>
              <a:t>References</a:t>
            </a:r>
            <a:r>
              <a:rPr lang="en-IN" sz="1400" b="1"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 </a:t>
            </a:r>
            <a:endParaRPr lang="en-US" sz="14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259715"/>
            <a:ext cx="12192000" cy="706755"/>
          </a:xfrm>
          <a:prstGeom prst="rect">
            <a:avLst/>
          </a:prstGeom>
          <a:noFill/>
        </p:spPr>
        <p:txBody>
          <a:bodyPr wrap="square" rtlCol="0">
            <a:spAutoFit/>
          </a:bodyPr>
          <a:p>
            <a:pPr algn="ctr"/>
            <a:r>
              <a:rPr lang="en-IN" altLang="en-US" sz="4000">
                <a:latin typeface="Times New Roman" panose="02020603050405020304" pitchFamily="18" charset="0"/>
                <a:cs typeface="Times New Roman" panose="02020603050405020304" pitchFamily="18" charset="0"/>
              </a:rPr>
              <a:t>ABSTRACT</a:t>
            </a:r>
            <a:endParaRPr lang="en-IN" altLang="en-US" sz="4000">
              <a:latin typeface="Times New Roman" panose="02020603050405020304" pitchFamily="18" charset="0"/>
              <a:cs typeface="Times New Roman" panose="02020603050405020304" pitchFamily="18" charset="0"/>
            </a:endParaRPr>
          </a:p>
        </p:txBody>
      </p:sp>
      <p:sp>
        <p:nvSpPr>
          <p:cNvPr id="3" name="TextBox 10"/>
          <p:cNvSpPr txBox="1"/>
          <p:nvPr/>
        </p:nvSpPr>
        <p:spPr>
          <a:xfrm>
            <a:off x="1067435" y="1760855"/>
            <a:ext cx="9706610" cy="3336290"/>
          </a:xfrm>
          <a:prstGeom prst="rect">
            <a:avLst/>
          </a:prstGeom>
        </p:spPr>
        <p:txBody>
          <a:bodyPr wrap="square" lIns="0" tIns="0" rIns="0" bIns="0" rtlCol="0" anchor="t">
            <a:noAutofit/>
          </a:bodyPr>
          <a:p>
            <a:pPr indent="457200" algn="just">
              <a:lnSpc>
                <a:spcPct val="160000"/>
              </a:lnSpc>
            </a:pPr>
            <a:r>
              <a:rPr lang="en-US" altLang="en-US" dirty="0">
                <a:latin typeface="Times New Roman" panose="02020603050405020304" pitchFamily="18" charset="0"/>
                <a:ea typeface="Poppins Bold"/>
                <a:cs typeface="Times New Roman" panose="02020603050405020304" pitchFamily="18" charset="0"/>
                <a:sym typeface="Poppins Bold"/>
              </a:rPr>
              <a:t>Auction is a Latin word meaning increase. An auction is a bidding and selling procedure in which goods and services are offered for sale. There are several sorts of auctions, and each auction has its own set of regulations.</a:t>
            </a:r>
            <a:r>
              <a:rPr lang="en-IN" altLang="en-US" dirty="0">
                <a:latin typeface="Times New Roman" panose="02020603050405020304" pitchFamily="18" charset="0"/>
                <a:ea typeface="Poppins Bold"/>
                <a:cs typeface="Times New Roman" panose="02020603050405020304" pitchFamily="18" charset="0"/>
                <a:sym typeface="Poppins Bold"/>
              </a:rPr>
              <a:t> The web-based auction system</a:t>
            </a:r>
            <a:r>
              <a:rPr lang="en-US" altLang="en-US" dirty="0">
                <a:latin typeface="Times New Roman" panose="02020603050405020304" pitchFamily="18" charset="0"/>
                <a:ea typeface="Poppins Bold"/>
                <a:cs typeface="Times New Roman" panose="02020603050405020304" pitchFamily="18" charset="0"/>
                <a:sym typeface="Poppins Bold"/>
              </a:rPr>
              <a:t> is built to be scalable and can handle a large number of bids in a live auction. Online auctions have become a common technique of procuring goods and services. Users' data can be kept secret to protect the legitimacy and integrity of contract papers, and bidders can be maintained in a single database if required. Clear reporting saves time and money by reducing paperwork, postage, and photocopying. It is quite simple to communicate with numerous bids. Individual users can submit numerous bids using this technique.</a:t>
            </a:r>
            <a:endParaRPr lang="en-US" altLang="en-US" dirty="0">
              <a:latin typeface="Times New Roman" panose="02020603050405020304" pitchFamily="18" charset="0"/>
              <a:ea typeface="Poppins Bold"/>
              <a:cs typeface="Times New Roman" panose="02020603050405020304" pitchFamily="18" charset="0"/>
              <a:sym typeface="Poppins 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384175"/>
            <a:ext cx="12192000" cy="706755"/>
          </a:xfrm>
          <a:prstGeom prst="rect">
            <a:avLst/>
          </a:prstGeom>
          <a:noFill/>
        </p:spPr>
        <p:txBody>
          <a:bodyPr wrap="square" rtlCol="0">
            <a:spAutoFit/>
          </a:bodyPr>
          <a:p>
            <a:pPr algn="ctr"/>
            <a:r>
              <a:rPr lang="en-IN" altLang="en-US" sz="4000">
                <a:latin typeface="Times New Roman" panose="02020603050405020304" pitchFamily="18" charset="0"/>
                <a:cs typeface="Times New Roman" panose="02020603050405020304" pitchFamily="18" charset="0"/>
              </a:rPr>
              <a:t>INTRODUCTION</a:t>
            </a:r>
            <a:endParaRPr lang="en-IN" altLang="en-US" sz="4000">
              <a:latin typeface="Times New Roman" panose="02020603050405020304" pitchFamily="18" charset="0"/>
              <a:cs typeface="Times New Roman" panose="02020603050405020304" pitchFamily="18" charset="0"/>
            </a:endParaRPr>
          </a:p>
        </p:txBody>
      </p:sp>
      <p:sp>
        <p:nvSpPr>
          <p:cNvPr id="3" name="TextBox 10"/>
          <p:cNvSpPr txBox="1"/>
          <p:nvPr/>
        </p:nvSpPr>
        <p:spPr>
          <a:xfrm>
            <a:off x="1067435" y="2030730"/>
            <a:ext cx="9706610" cy="3336290"/>
          </a:xfrm>
          <a:prstGeom prst="rect">
            <a:avLst/>
          </a:prstGeom>
        </p:spPr>
        <p:txBody>
          <a:bodyPr wrap="square" lIns="0" tIns="0" rIns="0" bIns="0" rtlCol="0" anchor="t">
            <a:noAutofit/>
          </a:bodyPr>
          <a:p>
            <a:pPr indent="457200" algn="just">
              <a:lnSpc>
                <a:spcPct val="160000"/>
              </a:lnSpc>
            </a:pPr>
            <a:r>
              <a:rPr lang="en-US" altLang="en-US">
                <a:latin typeface="Times New Roman" panose="02020603050405020304" pitchFamily="18" charset="0"/>
                <a:cs typeface="Times New Roman" panose="02020603050405020304" pitchFamily="18" charset="0"/>
                <a:sym typeface="+mn-ea"/>
              </a:rPr>
              <a:t>The </a:t>
            </a:r>
            <a:r>
              <a:rPr lang="en-US" altLang="en-US" b="1">
                <a:latin typeface="Times New Roman" panose="02020603050405020304" pitchFamily="18" charset="0"/>
                <a:cs typeface="Times New Roman" panose="02020603050405020304" pitchFamily="18" charset="0"/>
                <a:sym typeface="+mn-ea"/>
              </a:rPr>
              <a:t>"Advanced and Secure Web-Based Auction System"</a:t>
            </a:r>
            <a:r>
              <a:rPr lang="en-US" altLang="en-US">
                <a:latin typeface="Times New Roman" panose="02020603050405020304" pitchFamily="18" charset="0"/>
                <a:cs typeface="Times New Roman" panose="02020603050405020304" pitchFamily="18" charset="0"/>
                <a:sym typeface="+mn-ea"/>
              </a:rPr>
              <a:t> is designed to provide a </a:t>
            </a:r>
            <a:r>
              <a:rPr lang="en-US" altLang="en-US" b="1">
                <a:latin typeface="Times New Roman" panose="02020603050405020304" pitchFamily="18" charset="0"/>
                <a:cs typeface="Times New Roman" panose="02020603050405020304" pitchFamily="18" charset="0"/>
                <a:sym typeface="+mn-ea"/>
              </a:rPr>
              <a:t>reliable, scalable, and user-friendly</a:t>
            </a:r>
            <a:r>
              <a:rPr lang="en-US" altLang="en-US">
                <a:latin typeface="Times New Roman" panose="02020603050405020304" pitchFamily="18" charset="0"/>
                <a:cs typeface="Times New Roman" panose="02020603050405020304" pitchFamily="18" charset="0"/>
                <a:sym typeface="+mn-ea"/>
              </a:rPr>
              <a:t> platform for online auctions. It addresses the limitations of existing systems by incorporating</a:t>
            </a:r>
            <a:r>
              <a:rPr lang="en-US" altLang="en-US" b="1">
                <a:latin typeface="Times New Roman" panose="02020603050405020304" pitchFamily="18" charset="0"/>
                <a:cs typeface="Times New Roman" panose="02020603050405020304" pitchFamily="18" charset="0"/>
                <a:sym typeface="+mn-ea"/>
              </a:rPr>
              <a:t> security measures, including data</a:t>
            </a:r>
            <a:r>
              <a:rPr lang="en-IN" altLang="en-US" b="1">
                <a:latin typeface="Times New Roman" panose="02020603050405020304" pitchFamily="18" charset="0"/>
                <a:cs typeface="Times New Roman" panose="02020603050405020304" pitchFamily="18" charset="0"/>
                <a:sym typeface="+mn-ea"/>
              </a:rPr>
              <a:t>base</a:t>
            </a:r>
            <a:r>
              <a:rPr lang="en-US" altLang="en-US" b="1">
                <a:latin typeface="Times New Roman" panose="02020603050405020304" pitchFamily="18" charset="0"/>
                <a:cs typeface="Times New Roman" panose="02020603050405020304" pitchFamily="18" charset="0"/>
                <a:sym typeface="+mn-ea"/>
              </a:rPr>
              <a:t> </a:t>
            </a:r>
            <a:r>
              <a:rPr lang="en-IN" altLang="en-US" b="1">
                <a:latin typeface="Times New Roman" panose="02020603050405020304" pitchFamily="18" charset="0"/>
                <a:cs typeface="Times New Roman" panose="02020603050405020304" pitchFamily="18" charset="0"/>
                <a:sym typeface="+mn-ea"/>
              </a:rPr>
              <a:t>protection and</a:t>
            </a:r>
            <a:r>
              <a:rPr lang="en-US" altLang="en-US" b="1">
                <a:latin typeface="Times New Roman" panose="02020603050405020304" pitchFamily="18" charset="0"/>
                <a:cs typeface="Times New Roman" panose="02020603050405020304" pitchFamily="18" charset="0"/>
                <a:sym typeface="+mn-ea"/>
              </a:rPr>
              <a:t> user authentication</a:t>
            </a:r>
            <a:r>
              <a:rPr lang="en-US" altLang="en-US">
                <a:latin typeface="Times New Roman" panose="02020603050405020304" pitchFamily="18" charset="0"/>
                <a:cs typeface="Times New Roman" panose="02020603050405020304" pitchFamily="18" charset="0"/>
                <a:sym typeface="+mn-ea"/>
              </a:rPr>
              <a:t> to ensure a safe environment for buyers and sellers. The system features real-time bidding</a:t>
            </a:r>
            <a:r>
              <a:rPr lang="en-IN" altLang="en-US">
                <a:latin typeface="Times New Roman" panose="02020603050405020304" pitchFamily="18" charset="0"/>
                <a:cs typeface="Times New Roman" panose="02020603050405020304" pitchFamily="18" charset="0"/>
                <a:sym typeface="+mn-ea"/>
              </a:rPr>
              <a:t> </a:t>
            </a:r>
            <a:r>
              <a:rPr lang="en-US" altLang="en-US">
                <a:latin typeface="Times New Roman" panose="02020603050405020304" pitchFamily="18" charset="0"/>
                <a:cs typeface="Times New Roman" panose="02020603050405020304" pitchFamily="18" charset="0"/>
                <a:sym typeface="+mn-ea"/>
              </a:rPr>
              <a:t>and a modular architecture to support both user and admin functionalities. By facilitating </a:t>
            </a:r>
            <a:r>
              <a:rPr lang="en-US" altLang="en-US" b="1">
                <a:latin typeface="Times New Roman" panose="02020603050405020304" pitchFamily="18" charset="0"/>
                <a:cs typeface="Times New Roman" panose="02020603050405020304" pitchFamily="18" charset="0"/>
                <a:sym typeface="+mn-ea"/>
              </a:rPr>
              <a:t>seamless transactions </a:t>
            </a:r>
            <a:r>
              <a:rPr lang="en-US" altLang="en-US">
                <a:latin typeface="Times New Roman" panose="02020603050405020304" pitchFamily="18" charset="0"/>
                <a:cs typeface="Times New Roman" panose="02020603050405020304" pitchFamily="18" charset="0"/>
                <a:sym typeface="+mn-ea"/>
              </a:rPr>
              <a:t>and </a:t>
            </a:r>
            <a:r>
              <a:rPr lang="en-US" altLang="en-US">
                <a:latin typeface="Times New Roman" panose="02020603050405020304" pitchFamily="18" charset="0"/>
                <a:cs typeface="Times New Roman" panose="02020603050405020304" pitchFamily="18" charset="0"/>
                <a:sym typeface="+mn-ea"/>
              </a:rPr>
              <a:t>ensuring the </a:t>
            </a:r>
            <a:r>
              <a:rPr lang="en-US" altLang="en-US" b="1">
                <a:latin typeface="Times New Roman" panose="02020603050405020304" pitchFamily="18" charset="0"/>
                <a:cs typeface="Times New Roman" panose="02020603050405020304" pitchFamily="18" charset="0"/>
                <a:sym typeface="+mn-ea"/>
              </a:rPr>
              <a:t>integrity of auction activities,</a:t>
            </a:r>
            <a:r>
              <a:rPr lang="en-US" altLang="en-US">
                <a:latin typeface="Times New Roman" panose="02020603050405020304" pitchFamily="18" charset="0"/>
                <a:cs typeface="Times New Roman" panose="02020603050405020304" pitchFamily="18" charset="0"/>
                <a:sym typeface="+mn-ea"/>
              </a:rPr>
              <a:t> the platform enhances user trust and engagement. This system is a </a:t>
            </a:r>
            <a:r>
              <a:rPr lang="en-IN" altLang="en-US" b="1">
                <a:latin typeface="Times New Roman" panose="02020603050405020304" pitchFamily="18" charset="0"/>
                <a:cs typeface="Times New Roman" panose="02020603050405020304" pitchFamily="18" charset="0"/>
                <a:sym typeface="+mn-ea"/>
              </a:rPr>
              <a:t>comprehensive</a:t>
            </a:r>
            <a:r>
              <a:rPr lang="en-US" altLang="en-US" b="1">
                <a:latin typeface="Times New Roman" panose="02020603050405020304" pitchFamily="18" charset="0"/>
                <a:cs typeface="Times New Roman" panose="02020603050405020304" pitchFamily="18" charset="0"/>
                <a:sym typeface="+mn-ea"/>
              </a:rPr>
              <a:t> solution</a:t>
            </a:r>
            <a:r>
              <a:rPr lang="en-US" altLang="en-US">
                <a:latin typeface="Times New Roman" panose="02020603050405020304" pitchFamily="18" charset="0"/>
                <a:cs typeface="Times New Roman" panose="02020603050405020304" pitchFamily="18" charset="0"/>
                <a:sym typeface="+mn-ea"/>
              </a:rPr>
              <a:t> for the evolving needs of online commerce.</a:t>
            </a:r>
            <a:endParaRPr lang="en-US" b="1" dirty="0">
              <a:latin typeface="Times New Roman" panose="02020603050405020304" pitchFamily="18" charset="0"/>
              <a:ea typeface="Poppins Bold"/>
              <a:cs typeface="Times New Roman" panose="02020603050405020304" pitchFamily="18" charset="0"/>
              <a:sym typeface="Poppins 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259715"/>
            <a:ext cx="12192000" cy="706755"/>
          </a:xfrm>
          <a:prstGeom prst="rect">
            <a:avLst/>
          </a:prstGeom>
          <a:noFill/>
        </p:spPr>
        <p:txBody>
          <a:bodyPr wrap="square" rtlCol="0">
            <a:spAutoFit/>
          </a:bodyPr>
          <a:p>
            <a:pPr algn="ctr"/>
            <a:r>
              <a:rPr lang="en-IN" altLang="en-US" sz="4000">
                <a:latin typeface="Times New Roman" panose="02020603050405020304" pitchFamily="18" charset="0"/>
                <a:cs typeface="Times New Roman" panose="02020603050405020304" pitchFamily="18" charset="0"/>
              </a:rPr>
              <a:t>OBJECTIVE</a:t>
            </a:r>
            <a:endParaRPr lang="en-IN" altLang="en-US" sz="4000">
              <a:latin typeface="Times New Roman" panose="02020603050405020304" pitchFamily="18" charset="0"/>
              <a:cs typeface="Times New Roman" panose="02020603050405020304" pitchFamily="18" charset="0"/>
            </a:endParaRPr>
          </a:p>
        </p:txBody>
      </p:sp>
      <p:sp>
        <p:nvSpPr>
          <p:cNvPr id="3" name="Text Box 2"/>
          <p:cNvSpPr txBox="1"/>
          <p:nvPr/>
        </p:nvSpPr>
        <p:spPr>
          <a:xfrm>
            <a:off x="945515" y="1482090"/>
            <a:ext cx="10300970" cy="4357370"/>
          </a:xfrm>
          <a:prstGeom prst="rect">
            <a:avLst/>
          </a:prstGeom>
        </p:spPr>
        <p:txBody>
          <a:bodyPr wrap="square">
            <a:noAutofit/>
          </a:bodyPr>
          <a:p>
            <a:pPr indent="457200" algn="just">
              <a:lnSpc>
                <a:spcPct val="140000"/>
              </a:lnSpc>
            </a:pPr>
            <a:r>
              <a:rPr lang="en-US" altLang="en-US" sz="2000">
                <a:latin typeface="Times New Roman" panose="02020603050405020304" pitchFamily="18" charset="0"/>
                <a:cs typeface="Times New Roman" panose="02020603050405020304" pitchFamily="18" charset="0"/>
              </a:rPr>
              <a:t>The objective of the </a:t>
            </a:r>
            <a:r>
              <a:rPr lang="en-US" altLang="en-US" sz="2000" b="1">
                <a:latin typeface="Times New Roman" panose="02020603050405020304" pitchFamily="18" charset="0"/>
                <a:cs typeface="Times New Roman" panose="02020603050405020304" pitchFamily="18" charset="0"/>
              </a:rPr>
              <a:t>"Advanced and Secured </a:t>
            </a:r>
            <a:r>
              <a:rPr lang="en-IN" altLang="en-US" sz="2000" b="1">
                <a:latin typeface="Times New Roman" panose="02020603050405020304" pitchFamily="18" charset="0"/>
                <a:cs typeface="Times New Roman" panose="02020603050405020304" pitchFamily="18" charset="0"/>
              </a:rPr>
              <a:t>Web-Based </a:t>
            </a:r>
            <a:r>
              <a:rPr lang="en-US" altLang="en-US" sz="2000" b="1">
                <a:latin typeface="Times New Roman" panose="02020603050405020304" pitchFamily="18" charset="0"/>
                <a:cs typeface="Times New Roman" panose="02020603050405020304" pitchFamily="18" charset="0"/>
              </a:rPr>
              <a:t>Auction System"</a:t>
            </a:r>
            <a:r>
              <a:rPr lang="en-US" altLang="en-US" sz="2000">
                <a:latin typeface="Times New Roman" panose="02020603050405020304" pitchFamily="18" charset="0"/>
                <a:cs typeface="Times New Roman" panose="02020603050405020304" pitchFamily="18" charset="0"/>
              </a:rPr>
              <a:t> project is to design and develop a robust online platform that facilitates </a:t>
            </a:r>
            <a:r>
              <a:rPr lang="en-US" altLang="en-US" sz="2000" b="1">
                <a:latin typeface="Times New Roman" panose="02020603050405020304" pitchFamily="18" charset="0"/>
                <a:cs typeface="Times New Roman" panose="02020603050405020304" pitchFamily="18" charset="0"/>
              </a:rPr>
              <a:t>real-time bidding</a:t>
            </a:r>
            <a:r>
              <a:rPr lang="en-US" altLang="en-US" sz="2000">
                <a:latin typeface="Times New Roman" panose="02020603050405020304" pitchFamily="18" charset="0"/>
                <a:cs typeface="Times New Roman" panose="02020603050405020304" pitchFamily="18" charset="0"/>
              </a:rPr>
              <a:t> while ensuring a secure and transparent auction process for both buyers and sellers. This system aims to provide a user-friendly interface with advanced features such as live auction updates using </a:t>
            </a:r>
            <a:r>
              <a:rPr lang="en-US" altLang="en-US" sz="2000" b="1">
                <a:latin typeface="Times New Roman" panose="02020603050405020304" pitchFamily="18" charset="0"/>
                <a:cs typeface="Times New Roman" panose="02020603050405020304" pitchFamily="18" charset="0"/>
              </a:rPr>
              <a:t>SignalR, </a:t>
            </a:r>
            <a:r>
              <a:rPr lang="en-US" altLang="en-US" sz="2000">
                <a:latin typeface="Times New Roman" panose="02020603050405020304" pitchFamily="18" charset="0"/>
                <a:cs typeface="Times New Roman" panose="02020603050405020304" pitchFamily="18" charset="0"/>
              </a:rPr>
              <a:t>interactive buyer-seller communication for verifying users before participation.  The system also supports the </a:t>
            </a:r>
            <a:r>
              <a:rPr lang="en-US" altLang="en-US" sz="2000" b="1">
                <a:latin typeface="Times New Roman" panose="02020603050405020304" pitchFamily="18" charset="0"/>
                <a:cs typeface="Times New Roman" panose="02020603050405020304" pitchFamily="18" charset="0"/>
              </a:rPr>
              <a:t>uploading and management of artwork or product listings,</a:t>
            </a:r>
            <a:r>
              <a:rPr lang="en-US" altLang="en-US" sz="2000">
                <a:latin typeface="Times New Roman" panose="02020603050405020304" pitchFamily="18" charset="0"/>
                <a:cs typeface="Times New Roman" panose="02020603050405020304" pitchFamily="18" charset="0"/>
              </a:rPr>
              <a:t> complete with detailed descriptions and starting prices. Ultimately, the goal is to create a seamless and trustworthy environment that enhances user experience, and maintains the integrity of each transaction within the auction process.</a:t>
            </a:r>
            <a:endParaRPr lang="en-US" alt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TextBox 9"/>
          <p:cNvSpPr txBox="1"/>
          <p:nvPr/>
        </p:nvSpPr>
        <p:spPr>
          <a:xfrm>
            <a:off x="1263988" y="2600299"/>
            <a:ext cx="9706460" cy="1033780"/>
          </a:xfrm>
          <a:prstGeom prst="rect">
            <a:avLst/>
          </a:prstGeom>
        </p:spPr>
        <p:txBody>
          <a:bodyPr lIns="0" tIns="0" rIns="0" bIns="0" rtlCol="0" anchor="t">
            <a:spAutoFit/>
          </a:bodyPr>
          <a:p>
            <a:pPr algn="ctr">
              <a:lnSpc>
                <a:spcPts val="8065"/>
              </a:lnSpc>
              <a:spcBef>
                <a:spcPct val="0"/>
              </a:spcBef>
            </a:pPr>
            <a:r>
              <a:rPr lang="en-US" sz="5760" dirty="0" smtClean="0">
                <a:latin typeface="Times New Roman" panose="02020603050405020304" pitchFamily="18" charset="0"/>
                <a:ea typeface="HK Modular"/>
                <a:cs typeface="Times New Roman" panose="02020603050405020304" pitchFamily="18" charset="0"/>
                <a:sym typeface="HK Modular"/>
              </a:rPr>
              <a:t> LITERATURE SURVEY</a:t>
            </a:r>
            <a:endParaRPr lang="en-US" sz="5760" dirty="0">
              <a:latin typeface="Times New Roman" panose="02020603050405020304" pitchFamily="18" charset="0"/>
              <a:ea typeface="HK Modular"/>
              <a:cs typeface="Times New Roman" panose="02020603050405020304" pitchFamily="18" charset="0"/>
              <a:sym typeface="HK Modul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9" name="Table 8"/>
          <p:cNvGraphicFramePr>
            <a:graphicFrameLocks noGrp="1"/>
          </p:cNvGraphicFramePr>
          <p:nvPr/>
        </p:nvGraphicFramePr>
        <p:xfrm>
          <a:off x="294641" y="172723"/>
          <a:ext cx="11623038" cy="6556087"/>
        </p:xfrm>
        <a:graphic>
          <a:graphicData uri="http://schemas.openxmlformats.org/drawingml/2006/table">
            <a:tbl>
              <a:tblPr firstRow="1" bandRow="1">
                <a:tableStyleId>{2D5ABB26-0587-4C30-8999-92F81FD0307C}</a:tableStyleId>
              </a:tblPr>
              <a:tblGrid>
                <a:gridCol w="640079"/>
                <a:gridCol w="2184400"/>
                <a:gridCol w="1767840"/>
                <a:gridCol w="822960"/>
                <a:gridCol w="2367280"/>
                <a:gridCol w="1889760"/>
                <a:gridCol w="1950719"/>
              </a:tblGrid>
              <a:tr h="399099">
                <a:tc>
                  <a:txBody>
                    <a:bodyPr/>
                    <a:p>
                      <a:r>
                        <a:rPr lang="en-IN" sz="1600" dirty="0" smtClean="0">
                          <a:latin typeface="Times New Roman" panose="02020603050405020304" pitchFamily="18" charset="0"/>
                          <a:cs typeface="Times New Roman" panose="02020603050405020304" pitchFamily="18" charset="0"/>
                        </a:rPr>
                        <a:t>S.NO</a:t>
                      </a:r>
                      <a:endParaRPr lang="en-IN" sz="16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r>
                        <a:rPr lang="en-US" sz="1600" dirty="0" smtClean="0">
                          <a:latin typeface="Times New Roman" panose="02020603050405020304" pitchFamily="18" charset="0"/>
                          <a:cs typeface="Times New Roman" panose="02020603050405020304" pitchFamily="18" charset="0"/>
                        </a:rPr>
                        <a:t>TITLE</a:t>
                      </a:r>
                      <a:r>
                        <a:rPr lang="en-US" sz="1600" baseline="0" dirty="0" smtClean="0">
                          <a:latin typeface="Times New Roman" panose="02020603050405020304" pitchFamily="18" charset="0"/>
                          <a:cs typeface="Times New Roman" panose="02020603050405020304" pitchFamily="18" charset="0"/>
                        </a:rPr>
                        <a:t> OF THE PAPER</a:t>
                      </a:r>
                      <a:endParaRPr lang="en-IN" sz="16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r>
                        <a:rPr lang="en-US" sz="1600" dirty="0" smtClean="0">
                          <a:latin typeface="Times New Roman" panose="02020603050405020304" pitchFamily="18" charset="0"/>
                          <a:cs typeface="Times New Roman" panose="02020603050405020304" pitchFamily="18" charset="0"/>
                        </a:rPr>
                        <a:t>AUTHORS</a:t>
                      </a:r>
                      <a:endParaRPr lang="en-IN" sz="16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algn="ctr"/>
                      <a:r>
                        <a:rPr lang="en-US" sz="1600" dirty="0" smtClean="0">
                          <a:latin typeface="Times New Roman" panose="02020603050405020304" pitchFamily="18" charset="0"/>
                          <a:cs typeface="Times New Roman" panose="02020603050405020304" pitchFamily="18" charset="0"/>
                        </a:rPr>
                        <a:t>YEAR</a:t>
                      </a:r>
                      <a:endParaRPr lang="en-IN" sz="16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r>
                        <a:rPr lang="en-US" sz="1600" dirty="0" smtClean="0">
                          <a:latin typeface="Times New Roman" panose="02020603050405020304" pitchFamily="18" charset="0"/>
                          <a:cs typeface="Times New Roman" panose="02020603050405020304" pitchFamily="18" charset="0"/>
                        </a:rPr>
                        <a:t>METHODOLOGY</a:t>
                      </a:r>
                      <a:r>
                        <a:rPr lang="en-US" sz="1600" baseline="0" dirty="0" smtClean="0">
                          <a:latin typeface="Times New Roman" panose="02020603050405020304" pitchFamily="18" charset="0"/>
                          <a:cs typeface="Times New Roman" panose="02020603050405020304" pitchFamily="18" charset="0"/>
                        </a:rPr>
                        <a:t> USED</a:t>
                      </a:r>
                      <a:endParaRPr lang="en-IN" sz="16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r>
                        <a:rPr lang="en-US" sz="1600" dirty="0" smtClean="0">
                          <a:latin typeface="Times New Roman" panose="02020603050405020304" pitchFamily="18" charset="0"/>
                          <a:cs typeface="Times New Roman" panose="02020603050405020304" pitchFamily="18" charset="0"/>
                        </a:rPr>
                        <a:t>ADVANTAGES</a:t>
                      </a:r>
                      <a:endParaRPr lang="en-IN" sz="16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r>
                        <a:rPr lang="en-US" sz="1600" dirty="0" smtClean="0">
                          <a:latin typeface="Times New Roman" panose="02020603050405020304" pitchFamily="18" charset="0"/>
                          <a:cs typeface="Times New Roman" panose="02020603050405020304" pitchFamily="18" charset="0"/>
                        </a:rPr>
                        <a:t>DISADVANTAGES</a:t>
                      </a:r>
                      <a:endParaRPr lang="en-IN" sz="16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65722">
                <a:tc>
                  <a:txBody>
                    <a:bodyPr/>
                    <a:p>
                      <a:pPr marL="40005" indent="0" algn="l">
                        <a:spcBef>
                          <a:spcPct val="0"/>
                        </a:spcBef>
                        <a:spcAft>
                          <a:spcPct val="0"/>
                        </a:spcAft>
                      </a:pPr>
                      <a:r>
                        <a:rPr sz="1600" b="0">
                          <a:latin typeface="Times New Roman" panose="02020603050405020304"/>
                          <a:ea typeface="SimSun" panose="02010600030101010101" pitchFamily="2" charset="-122"/>
                        </a:rPr>
                        <a:t>1</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lang="en-US" altLang="en-US" sz="1600" b="0">
                          <a:latin typeface="Times New Roman" panose="02020603050405020304"/>
                          <a:ea typeface="SimSun" panose="02010600030101010101" pitchFamily="2" charset="-122"/>
                        </a:rPr>
                        <a:t>Web-Based Auction System</a:t>
                      </a:r>
                      <a:endParaRPr lang="en-US" altLang="en-US"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lang="en-US" altLang="en-US" sz="1600" b="0">
                          <a:latin typeface="Times New Roman" panose="02020603050405020304"/>
                          <a:ea typeface="SimSun" panose="02010600030101010101" pitchFamily="2" charset="-122"/>
                        </a:rPr>
                        <a:t>Sheharyar Khan</a:t>
                      </a:r>
                      <a:r>
                        <a:rPr lang="en-IN" altLang="en-US" sz="1600" b="0">
                          <a:latin typeface="Times New Roman" panose="02020603050405020304"/>
                          <a:ea typeface="SimSun" panose="02010600030101010101" pitchFamily="2" charset="-122"/>
                        </a:rPr>
                        <a:t>,</a:t>
                      </a:r>
                      <a:endParaRPr lang="en-US" altLang="en-US" sz="1600" b="0">
                        <a:latin typeface="Times New Roman" panose="02020603050405020304"/>
                        <a:ea typeface="SimSun" panose="02010600030101010101" pitchFamily="2" charset="-122"/>
                      </a:endParaRPr>
                    </a:p>
                    <a:p>
                      <a:pPr marL="40005" indent="0" algn="l">
                        <a:spcBef>
                          <a:spcPct val="0"/>
                        </a:spcBef>
                        <a:spcAft>
                          <a:spcPct val="0"/>
                        </a:spcAft>
                      </a:pPr>
                      <a:r>
                        <a:rPr lang="en-US" altLang="en-US" sz="1600" b="0">
                          <a:latin typeface="Times New Roman" panose="02020603050405020304"/>
                          <a:ea typeface="SimSun" panose="02010600030101010101" pitchFamily="2" charset="-122"/>
                        </a:rPr>
                        <a:t>Shandong University</a:t>
                      </a:r>
                      <a:endParaRPr lang="en-US" altLang="en-US"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ctr">
                        <a:spcBef>
                          <a:spcPct val="0"/>
                        </a:spcBef>
                        <a:spcAft>
                          <a:spcPct val="0"/>
                        </a:spcAft>
                      </a:pPr>
                      <a:r>
                        <a:rPr sz="1600" b="0">
                          <a:latin typeface="Times New Roman" panose="02020603050405020304"/>
                          <a:ea typeface="SimSun" panose="02010600030101010101" pitchFamily="2" charset="-122"/>
                        </a:rPr>
                        <a:t>202</a:t>
                      </a:r>
                      <a:r>
                        <a:rPr lang="en-IN" sz="1600" b="0">
                          <a:latin typeface="Times New Roman" panose="02020603050405020304"/>
                          <a:ea typeface="SimSun" panose="02010600030101010101" pitchFamily="2" charset="-122"/>
                        </a:rPr>
                        <a:t>2</a:t>
                      </a:r>
                      <a:endParaRPr lang="en-IN"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sz="1600" b="0">
                          <a:latin typeface="Times New Roman" panose="02020603050405020304"/>
                          <a:ea typeface="SimSun" panose="02010600030101010101" pitchFamily="2" charset="-122"/>
                        </a:rPr>
                        <a:t>Developed using ASP.NET MVC, C#, SQL Server; Implements </a:t>
                      </a:r>
                      <a:r>
                        <a:rPr sz="1600" b="0">
                          <a:latin typeface="Times New Roman" panose="02020603050405020304"/>
                          <a:ea typeface="SimSun" panose="02010600030101010101" pitchFamily="2" charset="-122"/>
                        </a:rPr>
                        <a:t>JWT authentication, AES encryption, and role-based access.</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sz="1600" b="0">
                          <a:latin typeface="Times New Roman" panose="02020603050405020304"/>
                          <a:ea typeface="SimSun" panose="02010600030101010101" pitchFamily="2" charset="-122"/>
                        </a:rPr>
                        <a:t>- Strong authentication mechanisms </a:t>
                      </a:r>
                      <a:br>
                        <a:rPr sz="1600" b="0">
                          <a:latin typeface="Times New Roman" panose="02020603050405020304"/>
                          <a:ea typeface="SimSun" panose="02010600030101010101" pitchFamily="2" charset="-122"/>
                        </a:rPr>
                      </a:br>
                      <a:r>
                        <a:rPr sz="1600" b="0">
                          <a:latin typeface="Times New Roman" panose="02020603050405020304"/>
                          <a:ea typeface="SimSun" panose="02010600030101010101" pitchFamily="2" charset="-122"/>
                        </a:rPr>
                        <a:t>- Scalable and modular design </a:t>
                      </a:r>
                      <a:br>
                        <a:rPr sz="1600" b="0">
                          <a:latin typeface="Times New Roman" panose="02020603050405020304"/>
                          <a:ea typeface="SimSun" panose="02010600030101010101" pitchFamily="2" charset="-122"/>
                        </a:rPr>
                      </a:br>
                      <a:r>
                        <a:rPr sz="1600" b="0">
                          <a:latin typeface="Times New Roman" panose="02020603050405020304"/>
                          <a:ea typeface="SimSun" panose="02010600030101010101" pitchFamily="2" charset="-122"/>
                        </a:rPr>
                        <a:t>- Database security with SQL injection prevention</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sz="1600" b="0">
                          <a:latin typeface="Times New Roman" panose="02020603050405020304"/>
                          <a:ea typeface="SimSun" panose="02010600030101010101" pitchFamily="2" charset="-122"/>
                        </a:rPr>
                        <a:t>- Limited decentralization </a:t>
                      </a:r>
                      <a:br>
                        <a:rPr sz="1600" b="0">
                          <a:latin typeface="Times New Roman" panose="02020603050405020304"/>
                          <a:ea typeface="SimSun" panose="02010600030101010101" pitchFamily="2" charset="-122"/>
                        </a:rPr>
                      </a:br>
                      <a:r>
                        <a:rPr sz="1600" b="0">
                          <a:latin typeface="Times New Roman" panose="02020603050405020304"/>
                          <a:ea typeface="SimSun" panose="02010600030101010101" pitchFamily="2" charset="-122"/>
                        </a:rPr>
                        <a:t>- Requires strong server-side security to prevent vulnerabilities</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299014">
                <a:tc>
                  <a:txBody>
                    <a:bodyPr/>
                    <a:p>
                      <a:pPr marL="40005" indent="0" algn="l">
                        <a:spcBef>
                          <a:spcPct val="0"/>
                        </a:spcBef>
                        <a:spcAft>
                          <a:spcPct val="0"/>
                        </a:spcAft>
                      </a:pPr>
                      <a:r>
                        <a:rPr sz="1600" b="0">
                          <a:latin typeface="Times New Roman" panose="02020603050405020304"/>
                          <a:ea typeface="SimSun" panose="02010600030101010101" pitchFamily="2" charset="-122"/>
                        </a:rPr>
                        <a:t>2</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sz="1600" b="0">
                          <a:latin typeface="Times New Roman" panose="02020603050405020304"/>
                          <a:ea typeface="SimSun" panose="02010600030101010101" pitchFamily="2" charset="-122"/>
                        </a:rPr>
                        <a:t>Secure and Private Vickrey Auction Protocols: A Secure Multiparty Computation Approach</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sz="1600" b="0">
                          <a:latin typeface="Times New Roman" panose="02020603050405020304"/>
                          <a:ea typeface="SimSun" panose="02010600030101010101" pitchFamily="2" charset="-122"/>
                        </a:rPr>
                        <a:t>Lucy Klinger, Mengfan Lyu, Lei Zhang</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ctr">
                        <a:spcBef>
                          <a:spcPct val="0"/>
                        </a:spcBef>
                        <a:spcAft>
                          <a:spcPct val="0"/>
                        </a:spcAft>
                      </a:pPr>
                      <a:r>
                        <a:rPr sz="1600" b="0">
                          <a:latin typeface="Times New Roman" panose="02020603050405020304"/>
                          <a:ea typeface="SimSun" panose="02010600030101010101" pitchFamily="2" charset="-122"/>
                        </a:rPr>
                        <a:t>2023</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sz="1600" b="0">
                          <a:latin typeface="Times New Roman" panose="02020603050405020304"/>
                          <a:ea typeface="SimSun" panose="02010600030101010101" pitchFamily="2" charset="-122"/>
                        </a:rPr>
                        <a:t>Uses Secure Multiparty Computation (SMC)</a:t>
                      </a:r>
                      <a:r>
                        <a:rPr sz="1600" b="0">
                          <a:latin typeface="Times New Roman" panose="02020603050405020304"/>
                          <a:ea typeface="SimSun" panose="02010600030101010101" pitchFamily="2" charset="-122"/>
                        </a:rPr>
                        <a:t> and Homomorphic Encryption to prevent bid exposure while ensuring correctness.</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sz="1600" b="0">
                          <a:latin typeface="Times New Roman" panose="02020603050405020304"/>
                          <a:ea typeface="SimSun" panose="02010600030101010101" pitchFamily="2" charset="-122"/>
                        </a:rPr>
                        <a:t>- Provides </a:t>
                      </a:r>
                      <a:r>
                        <a:rPr sz="1600" b="0">
                          <a:latin typeface="Times New Roman" panose="02020603050405020304"/>
                          <a:ea typeface="SimSun" panose="02010600030101010101" pitchFamily="2" charset="-122"/>
                        </a:rPr>
                        <a:t>bid privacy </a:t>
                      </a:r>
                      <a:br>
                        <a:rPr sz="1600" b="0">
                          <a:latin typeface="Times New Roman" panose="02020603050405020304"/>
                          <a:ea typeface="SimSun" panose="02010600030101010101" pitchFamily="2" charset="-122"/>
                        </a:rPr>
                      </a:br>
                      <a:r>
                        <a:rPr sz="1600" b="0">
                          <a:latin typeface="Times New Roman" panose="02020603050405020304"/>
                          <a:ea typeface="SimSun" panose="02010600030101010101" pitchFamily="2" charset="-122"/>
                        </a:rPr>
                        <a:t>- Resistant to collusion </a:t>
                      </a:r>
                      <a:br>
                        <a:rPr sz="1600" b="0">
                          <a:latin typeface="Times New Roman" panose="02020603050405020304"/>
                          <a:ea typeface="SimSun" panose="02010600030101010101" pitchFamily="2" charset="-122"/>
                        </a:rPr>
                      </a:br>
                      <a:r>
                        <a:rPr sz="1600" b="0">
                          <a:latin typeface="Times New Roman" panose="02020603050405020304"/>
                          <a:ea typeface="SimSun" panose="02010600030101010101" pitchFamily="2" charset="-122"/>
                        </a:rPr>
                        <a:t>- Public verifiability of auction results</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sz="1600" b="0">
                          <a:latin typeface="Times New Roman" panose="02020603050405020304"/>
                          <a:ea typeface="SimSun" panose="02010600030101010101" pitchFamily="2" charset="-122"/>
                        </a:rPr>
                        <a:t>- High computational cost </a:t>
                      </a:r>
                      <a:br>
                        <a:rPr sz="1600" b="0">
                          <a:latin typeface="Times New Roman" panose="02020603050405020304"/>
                          <a:ea typeface="SimSun" panose="02010600030101010101" pitchFamily="2" charset="-122"/>
                        </a:rPr>
                      </a:br>
                      <a:r>
                        <a:rPr sz="1600" b="0">
                          <a:latin typeface="Times New Roman" panose="02020603050405020304"/>
                          <a:ea typeface="SimSun" panose="02010600030101010101" pitchFamily="2" charset="-122"/>
                        </a:rPr>
                        <a:t>- Requires specialized cryptographic knowledge</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299014">
                <a:tc>
                  <a:txBody>
                    <a:bodyPr/>
                    <a:p>
                      <a:pPr marL="40005" indent="0" algn="l">
                        <a:spcBef>
                          <a:spcPct val="0"/>
                        </a:spcBef>
                        <a:spcAft>
                          <a:spcPct val="0"/>
                        </a:spcAft>
                      </a:pPr>
                      <a:r>
                        <a:rPr sz="1600" b="0">
                          <a:latin typeface="Times New Roman" panose="02020603050405020304"/>
                          <a:ea typeface="SimSun" panose="02010600030101010101" pitchFamily="2" charset="-122"/>
                        </a:rPr>
                        <a:t>3</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sz="1600" b="0">
                          <a:latin typeface="Times New Roman" panose="02020603050405020304"/>
                          <a:ea typeface="SimSun" panose="02010600030101010101" pitchFamily="2" charset="-122"/>
                        </a:rPr>
                        <a:t>A Survey on Secure Electronic Auction Protocols</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sz="1600" b="0">
                          <a:latin typeface="Times New Roman" panose="02020603050405020304"/>
                          <a:ea typeface="SimSun" panose="02010600030101010101" pitchFamily="2" charset="-122"/>
                        </a:rPr>
                        <a:t>A. Kumar, B. Gupta</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ctr">
                        <a:spcBef>
                          <a:spcPct val="0"/>
                        </a:spcBef>
                        <a:spcAft>
                          <a:spcPct val="0"/>
                        </a:spcAft>
                      </a:pPr>
                      <a:r>
                        <a:rPr sz="1600" b="0">
                          <a:latin typeface="Times New Roman" panose="02020603050405020304"/>
                          <a:ea typeface="SimSun" panose="02010600030101010101" pitchFamily="2" charset="-122"/>
                        </a:rPr>
                        <a:t>2021</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sz="1600" b="0">
                          <a:latin typeface="Times New Roman" panose="02020603050405020304"/>
                          <a:ea typeface="SimSun" panose="02010600030101010101" pitchFamily="2" charset="-122"/>
                        </a:rPr>
                        <a:t>Comparative analysis of electronic auction security mechanisms (e.g., cryptographic techniques, trust models).</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sz="1600" b="0">
                          <a:latin typeface="Times New Roman" panose="02020603050405020304"/>
                          <a:ea typeface="SimSun" panose="02010600030101010101" pitchFamily="2" charset="-122"/>
                        </a:rPr>
                        <a:t>- Comprehensive overview of different security models </a:t>
                      </a:r>
                      <a:br>
                        <a:rPr sz="1600" b="0">
                          <a:latin typeface="Times New Roman" panose="02020603050405020304"/>
                          <a:ea typeface="SimSun" panose="02010600030101010101" pitchFamily="2" charset="-122"/>
                        </a:rPr>
                      </a:br>
                      <a:r>
                        <a:rPr sz="1600" b="0">
                          <a:latin typeface="Times New Roman" panose="02020603050405020304"/>
                          <a:ea typeface="SimSun" panose="02010600030101010101" pitchFamily="2" charset="-122"/>
                        </a:rPr>
                        <a:t>- Identifies key vulnerabilities</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sz="1600" b="0">
                          <a:latin typeface="Times New Roman" panose="02020603050405020304"/>
                          <a:ea typeface="SimSun" panose="02010600030101010101" pitchFamily="2" charset="-122"/>
                        </a:rPr>
                        <a:t>- Lacks a specific implementation </a:t>
                      </a:r>
                      <a:br>
                        <a:rPr sz="1600" b="0">
                          <a:latin typeface="Times New Roman" panose="02020603050405020304"/>
                          <a:ea typeface="SimSun" panose="02010600030101010101" pitchFamily="2" charset="-122"/>
                        </a:rPr>
                      </a:br>
                      <a:r>
                        <a:rPr sz="1600" b="0">
                          <a:latin typeface="Times New Roman" panose="02020603050405020304"/>
                          <a:ea typeface="SimSun" panose="02010600030101010101" pitchFamily="2" charset="-122"/>
                        </a:rPr>
                        <a:t>- Theoretical focus without practical testing</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249708">
                <a:tc>
                  <a:txBody>
                    <a:bodyPr/>
                    <a:p>
                      <a:pPr marL="40005" indent="0" algn="l">
                        <a:spcBef>
                          <a:spcPct val="0"/>
                        </a:spcBef>
                        <a:spcAft>
                          <a:spcPct val="0"/>
                        </a:spcAft>
                      </a:pPr>
                      <a:r>
                        <a:rPr sz="1600" b="0">
                          <a:latin typeface="Times New Roman" panose="02020603050405020304"/>
                          <a:ea typeface="SimSun" panose="02010600030101010101" pitchFamily="2" charset="-122"/>
                        </a:rPr>
                        <a:t>4</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sz="1600" b="0">
                          <a:latin typeface="Times New Roman" panose="02020603050405020304"/>
                          <a:ea typeface="SimSun" panose="02010600030101010101" pitchFamily="2" charset="-122"/>
                        </a:rPr>
                        <a:t>Enhancing Security in Online Auctions Through Blockchain Technology</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sz="1600" b="0">
                          <a:latin typeface="Times New Roman" panose="02020603050405020304"/>
                          <a:ea typeface="SimSun" panose="02010600030101010101" pitchFamily="2" charset="-122"/>
                        </a:rPr>
                        <a:t>S. Patel, R. Singh</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ctr">
                        <a:spcBef>
                          <a:spcPct val="0"/>
                        </a:spcBef>
                        <a:spcAft>
                          <a:spcPct val="0"/>
                        </a:spcAft>
                      </a:pPr>
                      <a:r>
                        <a:rPr sz="1600" b="0">
                          <a:latin typeface="Times New Roman" panose="02020603050405020304"/>
                          <a:ea typeface="SimSun" panose="02010600030101010101" pitchFamily="2" charset="-122"/>
                        </a:rPr>
                        <a:t>2022</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sz="1600" b="0">
                          <a:latin typeface="Times New Roman" panose="02020603050405020304"/>
                          <a:ea typeface="SimSun" panose="02010600030101010101" pitchFamily="2" charset="-122"/>
                        </a:rPr>
                        <a:t>Implements Ethereum smart contracts to store bids transparently and immutably on the blockchain.</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sz="1600" b="0">
                          <a:latin typeface="Times New Roman" panose="02020603050405020304"/>
                          <a:ea typeface="SimSun" panose="02010600030101010101" pitchFamily="2" charset="-122"/>
                        </a:rPr>
                        <a:t>- </a:t>
                      </a:r>
                      <a:r>
                        <a:rPr sz="1600" b="0">
                          <a:latin typeface="Times New Roman" panose="02020603050405020304"/>
                          <a:ea typeface="SimSun" panose="02010600030101010101" pitchFamily="2" charset="-122"/>
                        </a:rPr>
                        <a:t>Decentralized and transparent </a:t>
                      </a:r>
                      <a:br>
                        <a:rPr sz="1600" b="0">
                          <a:latin typeface="Times New Roman" panose="02020603050405020304"/>
                          <a:ea typeface="SimSun" panose="02010600030101010101" pitchFamily="2" charset="-122"/>
                        </a:rPr>
                      </a:br>
                      <a:r>
                        <a:rPr sz="1600" b="0">
                          <a:latin typeface="Times New Roman" panose="02020603050405020304"/>
                          <a:ea typeface="SimSun" panose="02010600030101010101" pitchFamily="2" charset="-122"/>
                        </a:rPr>
                        <a:t>- Prevents data tampering</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sz="1600" b="0">
                          <a:latin typeface="Times New Roman" panose="02020603050405020304"/>
                          <a:ea typeface="SimSun" panose="02010600030101010101" pitchFamily="2" charset="-122"/>
                        </a:rPr>
                        <a:t>- </a:t>
                      </a:r>
                      <a:r>
                        <a:rPr sz="1600" b="0">
                          <a:latin typeface="Times New Roman" panose="02020603050405020304"/>
                          <a:ea typeface="SimSun" panose="02010600030101010101" pitchFamily="2" charset="-122"/>
                        </a:rPr>
                        <a:t>High gas fees on blockchain </a:t>
                      </a:r>
                      <a:br>
                        <a:rPr sz="1600" b="0">
                          <a:latin typeface="Times New Roman" panose="02020603050405020304"/>
                          <a:ea typeface="SimSun" panose="02010600030101010101" pitchFamily="2" charset="-122"/>
                        </a:rPr>
                      </a:br>
                      <a:r>
                        <a:rPr sz="1600" b="0">
                          <a:latin typeface="Times New Roman" panose="02020603050405020304"/>
                          <a:ea typeface="SimSun" panose="02010600030101010101" pitchFamily="2" charset="-122"/>
                        </a:rPr>
                        <a:t>- Slower transaction processing</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9" name="Table 8"/>
          <p:cNvGraphicFramePr>
            <a:graphicFrameLocks noGrp="1"/>
          </p:cNvGraphicFramePr>
          <p:nvPr/>
        </p:nvGraphicFramePr>
        <p:xfrm>
          <a:off x="304801" y="193043"/>
          <a:ext cx="11623038" cy="6515711"/>
        </p:xfrm>
        <a:graphic>
          <a:graphicData uri="http://schemas.openxmlformats.org/drawingml/2006/table">
            <a:tbl>
              <a:tblPr firstRow="1" bandRow="1">
                <a:tableStyleId>{2D5ABB26-0587-4C30-8999-92F81FD0307C}</a:tableStyleId>
              </a:tblPr>
              <a:tblGrid>
                <a:gridCol w="640079"/>
                <a:gridCol w="2407920"/>
                <a:gridCol w="1666240"/>
                <a:gridCol w="782320"/>
                <a:gridCol w="2367280"/>
                <a:gridCol w="1808480"/>
                <a:gridCol w="1950719"/>
              </a:tblGrid>
              <a:tr h="439033">
                <a:tc>
                  <a:txBody>
                    <a:bodyPr/>
                    <a:p>
                      <a:r>
                        <a:rPr lang="en-IN" sz="1600" dirty="0" smtClean="0">
                          <a:latin typeface="Times New Roman" panose="02020603050405020304" pitchFamily="18" charset="0"/>
                          <a:cs typeface="Times New Roman" panose="02020603050405020304" pitchFamily="18" charset="0"/>
                        </a:rPr>
                        <a:t>S.NO</a:t>
                      </a:r>
                      <a:endParaRPr lang="en-IN" sz="16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r>
                        <a:rPr lang="en-US" sz="1600" dirty="0" smtClean="0">
                          <a:latin typeface="Times New Roman" panose="02020603050405020304" pitchFamily="18" charset="0"/>
                          <a:cs typeface="Times New Roman" panose="02020603050405020304" pitchFamily="18" charset="0"/>
                        </a:rPr>
                        <a:t>TITLE</a:t>
                      </a:r>
                      <a:r>
                        <a:rPr lang="en-US" sz="1600" baseline="0" dirty="0" smtClean="0">
                          <a:latin typeface="Times New Roman" panose="02020603050405020304" pitchFamily="18" charset="0"/>
                          <a:cs typeface="Times New Roman" panose="02020603050405020304" pitchFamily="18" charset="0"/>
                        </a:rPr>
                        <a:t> OF THE PAPER</a:t>
                      </a:r>
                      <a:endParaRPr lang="en-IN" sz="16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algn="ctr"/>
                      <a:r>
                        <a:rPr lang="en-US" sz="1600" dirty="0" smtClean="0">
                          <a:latin typeface="Times New Roman" panose="02020603050405020304" pitchFamily="18" charset="0"/>
                          <a:cs typeface="Times New Roman" panose="02020603050405020304" pitchFamily="18" charset="0"/>
                        </a:rPr>
                        <a:t>AUTHORS</a:t>
                      </a:r>
                      <a:endParaRPr lang="en-IN" sz="16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algn="ctr"/>
                      <a:r>
                        <a:rPr lang="en-US" sz="1600" dirty="0" smtClean="0">
                          <a:latin typeface="Times New Roman" panose="02020603050405020304" pitchFamily="18" charset="0"/>
                          <a:cs typeface="Times New Roman" panose="02020603050405020304" pitchFamily="18" charset="0"/>
                        </a:rPr>
                        <a:t>YEAR</a:t>
                      </a:r>
                      <a:endParaRPr lang="en-IN" sz="16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r>
                        <a:rPr lang="en-US" sz="1600" dirty="0" smtClean="0">
                          <a:latin typeface="Times New Roman" panose="02020603050405020304" pitchFamily="18" charset="0"/>
                          <a:cs typeface="Times New Roman" panose="02020603050405020304" pitchFamily="18" charset="0"/>
                        </a:rPr>
                        <a:t>METHODOLOGY</a:t>
                      </a:r>
                      <a:r>
                        <a:rPr lang="en-US" sz="1600" baseline="0" dirty="0" smtClean="0">
                          <a:latin typeface="Times New Roman" panose="02020603050405020304" pitchFamily="18" charset="0"/>
                          <a:cs typeface="Times New Roman" panose="02020603050405020304" pitchFamily="18" charset="0"/>
                        </a:rPr>
                        <a:t> USED</a:t>
                      </a:r>
                      <a:endParaRPr lang="en-IN" sz="16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r>
                        <a:rPr lang="en-US" sz="1600" dirty="0" smtClean="0">
                          <a:latin typeface="Times New Roman" panose="02020603050405020304" pitchFamily="18" charset="0"/>
                          <a:cs typeface="Times New Roman" panose="02020603050405020304" pitchFamily="18" charset="0"/>
                        </a:rPr>
                        <a:t>ADVANTAGES</a:t>
                      </a:r>
                      <a:endParaRPr lang="en-IN" sz="16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r>
                        <a:rPr lang="en-US" sz="1600" dirty="0" smtClean="0">
                          <a:latin typeface="Times New Roman" panose="02020603050405020304" pitchFamily="18" charset="0"/>
                          <a:cs typeface="Times New Roman" panose="02020603050405020304" pitchFamily="18" charset="0"/>
                        </a:rPr>
                        <a:t>DISADVANTAGES</a:t>
                      </a:r>
                      <a:endParaRPr lang="en-IN" sz="16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72683">
                <a:tc>
                  <a:txBody>
                    <a:bodyPr/>
                    <a:p>
                      <a:pPr marL="40005" indent="0" algn="l">
                        <a:spcBef>
                          <a:spcPct val="0"/>
                        </a:spcBef>
                        <a:spcAft>
                          <a:spcPct val="0"/>
                        </a:spcAft>
                      </a:pPr>
                      <a:r>
                        <a:rPr sz="1600" b="0">
                          <a:latin typeface="Times New Roman" panose="02020603050405020304"/>
                          <a:ea typeface="SimSun" panose="02010600030101010101" pitchFamily="2" charset="-122"/>
                        </a:rPr>
                        <a:t>5</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sz="1600" b="0">
                          <a:latin typeface="Times New Roman" panose="02020603050405020304"/>
                          <a:ea typeface="SimSun" panose="02010600030101010101" pitchFamily="2" charset="-122"/>
                        </a:rPr>
                        <a:t>Privacy-Preserving Auction Mechanisms: A Comprehensive Review</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sz="1600" b="0">
                          <a:latin typeface="Times New Roman" panose="02020603050405020304"/>
                          <a:ea typeface="SimSun" panose="02010600030101010101" pitchFamily="2" charset="-122"/>
                        </a:rPr>
                        <a:t>M. Chen, Y. Wang</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ctr">
                        <a:spcBef>
                          <a:spcPct val="0"/>
                        </a:spcBef>
                        <a:spcAft>
                          <a:spcPct val="0"/>
                        </a:spcAft>
                      </a:pPr>
                      <a:r>
                        <a:rPr sz="1600" b="0">
                          <a:latin typeface="Times New Roman" panose="02020603050405020304"/>
                          <a:ea typeface="SimSun" panose="02010600030101010101" pitchFamily="2" charset="-122"/>
                        </a:rPr>
                        <a:t>2020</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sz="1600" b="0">
                          <a:latin typeface="Times New Roman" panose="02020603050405020304"/>
                          <a:ea typeface="SimSun" panose="02010600030101010101" pitchFamily="2" charset="-122"/>
                        </a:rPr>
                        <a:t>Examines Paillier encryption, Mix Networks, and Secure Two-Party Computation (2PC) for private bidding.</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sz="1600" b="0">
                          <a:latin typeface="Times New Roman" panose="02020603050405020304"/>
                          <a:ea typeface="SimSun" panose="02010600030101010101" pitchFamily="2" charset="-122"/>
                        </a:rPr>
                        <a:t>- Strong privacy protection </a:t>
                      </a:r>
                      <a:br>
                        <a:rPr sz="1600" b="0">
                          <a:latin typeface="Times New Roman" panose="02020603050405020304"/>
                          <a:ea typeface="SimSun" panose="02010600030101010101" pitchFamily="2" charset="-122"/>
                        </a:rPr>
                      </a:br>
                      <a:r>
                        <a:rPr sz="1600" b="0">
                          <a:latin typeface="Times New Roman" panose="02020603050405020304"/>
                          <a:ea typeface="SimSun" panose="02010600030101010101" pitchFamily="2" charset="-122"/>
                        </a:rPr>
                        <a:t>- Prevents bid leakage</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sz="1600" b="0">
                          <a:latin typeface="Times New Roman" panose="02020603050405020304"/>
                          <a:ea typeface="SimSun" panose="02010600030101010101" pitchFamily="2" charset="-122"/>
                        </a:rPr>
                        <a:t>- Complex implementation </a:t>
                      </a:r>
                      <a:br>
                        <a:rPr sz="1600" b="0">
                          <a:latin typeface="Times New Roman" panose="02020603050405020304"/>
                          <a:ea typeface="SimSun" panose="02010600030101010101" pitchFamily="2" charset="-122"/>
                        </a:rPr>
                      </a:br>
                      <a:r>
                        <a:rPr sz="1600" b="0">
                          <a:latin typeface="Times New Roman" panose="02020603050405020304"/>
                          <a:ea typeface="SimSun" panose="02010600030101010101" pitchFamily="2" charset="-122"/>
                        </a:rPr>
                        <a:t>- Computationally expensive</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49124">
                <a:tc>
                  <a:txBody>
                    <a:bodyPr/>
                    <a:p>
                      <a:pPr marL="40005" indent="0" algn="l">
                        <a:spcBef>
                          <a:spcPct val="0"/>
                        </a:spcBef>
                        <a:spcAft>
                          <a:spcPct val="0"/>
                        </a:spcAft>
                      </a:pPr>
                      <a:r>
                        <a:rPr sz="1600" b="0">
                          <a:latin typeface="Times New Roman" panose="02020603050405020304"/>
                          <a:ea typeface="SimSun" panose="02010600030101010101" pitchFamily="2" charset="-122"/>
                        </a:rPr>
                        <a:t>6</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sz="1600" b="0">
                          <a:latin typeface="Times New Roman" panose="02020603050405020304"/>
                          <a:ea typeface="SimSun" panose="02010600030101010101" pitchFamily="2" charset="-122"/>
                        </a:rPr>
                        <a:t>Implementing Secure Dutch Auctions in E-Commerce Platforms</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sz="1600" b="0">
                          <a:latin typeface="Times New Roman" panose="02020603050405020304"/>
                          <a:ea typeface="SimSun" panose="02010600030101010101" pitchFamily="2" charset="-122"/>
                        </a:rPr>
                        <a:t>L. Nguyen, T. Tran</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ctr">
                        <a:spcBef>
                          <a:spcPct val="0"/>
                        </a:spcBef>
                        <a:spcAft>
                          <a:spcPct val="0"/>
                        </a:spcAft>
                      </a:pPr>
                      <a:r>
                        <a:rPr sz="1600" b="0">
                          <a:latin typeface="Times New Roman" panose="02020603050405020304"/>
                          <a:ea typeface="SimSun" panose="02010600030101010101" pitchFamily="2" charset="-122"/>
                        </a:rPr>
                        <a:t>2019</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sz="1600" b="0">
                          <a:latin typeface="Times New Roman" panose="02020603050405020304"/>
                          <a:ea typeface="SimSun" panose="02010600030101010101" pitchFamily="2" charset="-122"/>
                        </a:rPr>
                        <a:t>Implements progressive price reductions with secure </a:t>
                      </a:r>
                      <a:r>
                        <a:rPr sz="1600" b="0">
                          <a:latin typeface="Times New Roman" panose="02020603050405020304"/>
                          <a:ea typeface="SimSun" panose="02010600030101010101" pitchFamily="2" charset="-122"/>
                        </a:rPr>
                        <a:t>real-time monitoring via TLS encryption.</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sz="1600" b="0">
                          <a:latin typeface="Times New Roman" panose="02020603050405020304"/>
                          <a:ea typeface="SimSun" panose="02010600030101010101" pitchFamily="2" charset="-122"/>
                        </a:rPr>
                        <a:t>- Faster auction clearance </a:t>
                      </a:r>
                      <a:br>
                        <a:rPr sz="1600" b="0">
                          <a:latin typeface="Times New Roman" panose="02020603050405020304"/>
                          <a:ea typeface="SimSun" panose="02010600030101010101" pitchFamily="2" charset="-122"/>
                        </a:rPr>
                      </a:br>
                      <a:r>
                        <a:rPr sz="1600" b="0">
                          <a:latin typeface="Times New Roman" panose="02020603050405020304"/>
                          <a:ea typeface="SimSun" panose="02010600030101010101" pitchFamily="2" charset="-122"/>
                        </a:rPr>
                        <a:t>- Reduces fraudulent bidding</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sz="1600" b="0">
                          <a:latin typeface="Times New Roman" panose="02020603050405020304"/>
                          <a:ea typeface="SimSun" panose="02010600030101010101" pitchFamily="2" charset="-122"/>
                        </a:rPr>
                        <a:t>- Limited to </a:t>
                      </a:r>
                      <a:r>
                        <a:rPr sz="1600" b="0">
                          <a:latin typeface="Times New Roman" panose="02020603050405020304"/>
                          <a:ea typeface="SimSun" panose="02010600030101010101" pitchFamily="2" charset="-122"/>
                        </a:rPr>
                        <a:t>Dutch auction type </a:t>
                      </a:r>
                      <a:br>
                        <a:rPr sz="1600" b="0">
                          <a:latin typeface="Times New Roman" panose="02020603050405020304"/>
                          <a:ea typeface="SimSun" panose="02010600030101010101" pitchFamily="2" charset="-122"/>
                        </a:rPr>
                      </a:br>
                      <a:r>
                        <a:rPr sz="1600" b="0">
                          <a:latin typeface="Times New Roman" panose="02020603050405020304"/>
                          <a:ea typeface="SimSun" panose="02010600030101010101" pitchFamily="2" charset="-122"/>
                        </a:rPr>
                        <a:t>- Susceptible to denial-of-service (DoS) attacks</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175892">
                <a:tc>
                  <a:txBody>
                    <a:bodyPr/>
                    <a:p>
                      <a:pPr marL="40005" indent="0" algn="l">
                        <a:spcBef>
                          <a:spcPct val="0"/>
                        </a:spcBef>
                        <a:spcAft>
                          <a:spcPct val="0"/>
                        </a:spcAft>
                      </a:pPr>
                      <a:r>
                        <a:rPr sz="1600" b="0">
                          <a:latin typeface="Times New Roman" panose="02020603050405020304"/>
                          <a:ea typeface="SimSun" panose="02010600030101010101" pitchFamily="2" charset="-122"/>
                        </a:rPr>
                        <a:t>7</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sz="1600" b="0">
                          <a:latin typeface="Times New Roman" panose="02020603050405020304"/>
                          <a:ea typeface="SimSun" panose="02010600030101010101" pitchFamily="2" charset="-122"/>
                        </a:rPr>
                        <a:t>A Framework for Secure Online Auctions Using Homomorphic Encryption</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sz="1600" b="0">
                          <a:latin typeface="Times New Roman" panose="02020603050405020304"/>
                          <a:ea typeface="SimSun" panose="02010600030101010101" pitchFamily="2" charset="-122"/>
                        </a:rPr>
                        <a:t>P. Verma, S. Sharma</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ctr">
                        <a:spcBef>
                          <a:spcPct val="0"/>
                        </a:spcBef>
                        <a:spcAft>
                          <a:spcPct val="0"/>
                        </a:spcAft>
                      </a:pPr>
                      <a:r>
                        <a:rPr sz="1600" b="0">
                          <a:latin typeface="Times New Roman" panose="02020603050405020304"/>
                          <a:ea typeface="SimSun" panose="02010600030101010101" pitchFamily="2" charset="-122"/>
                        </a:rPr>
                        <a:t>2021</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sz="1600" b="0">
                          <a:latin typeface="Times New Roman" panose="02020603050405020304"/>
                          <a:ea typeface="SimSun" panose="02010600030101010101" pitchFamily="2" charset="-122"/>
                        </a:rPr>
                        <a:t>Uses Fully Homomorphic Encryption (FHE) to encrypt bids so that processing occurs without decryption.</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sz="1600" b="0">
                          <a:latin typeface="Times New Roman" panose="02020603050405020304"/>
                          <a:ea typeface="SimSun" panose="02010600030101010101" pitchFamily="2" charset="-122"/>
                        </a:rPr>
                        <a:t>- High data security </a:t>
                      </a:r>
                      <a:br>
                        <a:rPr sz="1600" b="0">
                          <a:latin typeface="Times New Roman" panose="02020603050405020304"/>
                          <a:ea typeface="SimSun" panose="02010600030101010101" pitchFamily="2" charset="-122"/>
                        </a:rPr>
                      </a:br>
                      <a:r>
                        <a:rPr sz="1600" b="0">
                          <a:latin typeface="Times New Roman" panose="02020603050405020304"/>
                          <a:ea typeface="SimSun" panose="02010600030101010101" pitchFamily="2" charset="-122"/>
                        </a:rPr>
                        <a:t>- Protects bid confidentiality even from the auctioneer</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sz="1600" b="0">
                          <a:latin typeface="Times New Roman" panose="02020603050405020304"/>
                          <a:ea typeface="SimSun" panose="02010600030101010101" pitchFamily="2" charset="-122"/>
                        </a:rPr>
                        <a:t>- Computationally heavy </a:t>
                      </a:r>
                      <a:br>
                        <a:rPr sz="1600" b="0">
                          <a:latin typeface="Times New Roman" panose="02020603050405020304"/>
                          <a:ea typeface="SimSun" panose="02010600030101010101" pitchFamily="2" charset="-122"/>
                        </a:rPr>
                      </a:br>
                      <a:r>
                        <a:rPr sz="1600" b="0">
                          <a:latin typeface="Times New Roman" panose="02020603050405020304"/>
                          <a:ea typeface="SimSun" panose="02010600030101010101" pitchFamily="2" charset="-122"/>
                        </a:rPr>
                        <a:t>- Requires advanced encryption knowledge</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74754">
                <a:tc>
                  <a:txBody>
                    <a:bodyPr/>
                    <a:p>
                      <a:pPr marL="40005" indent="0" algn="l">
                        <a:spcBef>
                          <a:spcPct val="0"/>
                        </a:spcBef>
                        <a:spcAft>
                          <a:spcPct val="0"/>
                        </a:spcAft>
                      </a:pPr>
                      <a:r>
                        <a:rPr sz="1600" b="0">
                          <a:latin typeface="Times New Roman" panose="02020603050405020304"/>
                          <a:ea typeface="SimSun" panose="02010600030101010101" pitchFamily="2" charset="-122"/>
                        </a:rPr>
                        <a:t>8</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sz="1600" b="0">
                          <a:latin typeface="Times New Roman" panose="02020603050405020304"/>
                          <a:ea typeface="SimSun" panose="02010600030101010101" pitchFamily="2" charset="-122"/>
                        </a:rPr>
                        <a:t>Secure Online Auction System Based on Multi-Agent Technology</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sz="1600" b="0">
                          <a:latin typeface="Times New Roman" panose="02020603050405020304"/>
                          <a:ea typeface="SimSun" panose="02010600030101010101" pitchFamily="2" charset="-122"/>
                        </a:rPr>
                        <a:t>H. Lee, K. Kim</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ctr">
                        <a:spcBef>
                          <a:spcPct val="0"/>
                        </a:spcBef>
                        <a:spcAft>
                          <a:spcPct val="0"/>
                        </a:spcAft>
                      </a:pPr>
                      <a:r>
                        <a:rPr sz="1600" b="0">
                          <a:latin typeface="Times New Roman" panose="02020603050405020304"/>
                          <a:ea typeface="SimSun" panose="02010600030101010101" pitchFamily="2" charset="-122"/>
                        </a:rPr>
                        <a:t>2018</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sz="1600" b="0">
                          <a:latin typeface="Times New Roman" panose="02020603050405020304"/>
                          <a:ea typeface="SimSun" panose="02010600030101010101" pitchFamily="2" charset="-122"/>
                        </a:rPr>
                        <a:t>Implements </a:t>
                      </a:r>
                      <a:r>
                        <a:rPr sz="1600" b="0">
                          <a:latin typeface="Times New Roman" panose="02020603050405020304"/>
                          <a:ea typeface="SimSun" panose="02010600030101010101" pitchFamily="2" charset="-122"/>
                        </a:rPr>
                        <a:t>AI-driven autonomous agents that securely handle bid validation and fraud detection.</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sz="1600" b="0">
                          <a:latin typeface="Times New Roman" panose="02020603050405020304"/>
                          <a:ea typeface="SimSun" panose="02010600030101010101" pitchFamily="2" charset="-122"/>
                        </a:rPr>
                        <a:t>- Automated fraud detection </a:t>
                      </a:r>
                      <a:br>
                        <a:rPr sz="1600" b="0">
                          <a:latin typeface="Times New Roman" panose="02020603050405020304"/>
                          <a:ea typeface="SimSun" panose="02010600030101010101" pitchFamily="2" charset="-122"/>
                        </a:rPr>
                      </a:br>
                      <a:r>
                        <a:rPr sz="1600" b="0">
                          <a:latin typeface="Times New Roman" panose="02020603050405020304"/>
                          <a:ea typeface="SimSun" panose="02010600030101010101" pitchFamily="2" charset="-122"/>
                        </a:rPr>
                        <a:t>- Real-time bidding efficiency</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sz="1600" b="0">
                          <a:latin typeface="Times New Roman" panose="02020603050405020304"/>
                          <a:ea typeface="SimSun" panose="02010600030101010101" pitchFamily="2" charset="-122"/>
                        </a:rPr>
                        <a:t>- </a:t>
                      </a:r>
                      <a:r>
                        <a:rPr sz="1600" b="0">
                          <a:latin typeface="Times New Roman" panose="02020603050405020304"/>
                          <a:ea typeface="SimSun" panose="02010600030101010101" pitchFamily="2" charset="-122"/>
                        </a:rPr>
                        <a:t>Complex AI model training </a:t>
                      </a:r>
                      <a:br>
                        <a:rPr sz="1600" b="0">
                          <a:latin typeface="Times New Roman" panose="02020603050405020304"/>
                          <a:ea typeface="SimSun" panose="02010600030101010101" pitchFamily="2" charset="-122"/>
                        </a:rPr>
                      </a:br>
                      <a:r>
                        <a:rPr sz="1600" b="0">
                          <a:latin typeface="Times New Roman" panose="02020603050405020304"/>
                          <a:ea typeface="SimSun" panose="02010600030101010101" pitchFamily="2" charset="-122"/>
                        </a:rPr>
                        <a:t>- Can be resource-intensive</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9" name="Table 8"/>
          <p:cNvGraphicFramePr>
            <a:graphicFrameLocks noGrp="1"/>
          </p:cNvGraphicFramePr>
          <p:nvPr/>
        </p:nvGraphicFramePr>
        <p:xfrm>
          <a:off x="304801" y="264163"/>
          <a:ext cx="11623038" cy="6044040"/>
        </p:xfrm>
        <a:graphic>
          <a:graphicData uri="http://schemas.openxmlformats.org/drawingml/2006/table">
            <a:tbl>
              <a:tblPr firstRow="1" bandRow="1">
                <a:tableStyleId>{2D5ABB26-0587-4C30-8999-92F81FD0307C}</a:tableStyleId>
              </a:tblPr>
              <a:tblGrid>
                <a:gridCol w="640079"/>
                <a:gridCol w="2204720"/>
                <a:gridCol w="1827514"/>
                <a:gridCol w="868101"/>
                <a:gridCol w="2395960"/>
                <a:gridCol w="1735945"/>
                <a:gridCol w="1950719"/>
              </a:tblGrid>
              <a:tr h="1042311">
                <a:tc>
                  <a:txBody>
                    <a:bodyPr/>
                    <a:p>
                      <a:r>
                        <a:rPr lang="en-IN" sz="1600" dirty="0" smtClean="0">
                          <a:latin typeface="Times New Roman" panose="02020603050405020304" pitchFamily="18" charset="0"/>
                          <a:cs typeface="Times New Roman" panose="02020603050405020304" pitchFamily="18" charset="0"/>
                        </a:rPr>
                        <a:t>S.NO</a:t>
                      </a:r>
                      <a:endParaRPr lang="en-IN" sz="16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r>
                        <a:rPr lang="en-US" sz="1600" dirty="0" smtClean="0">
                          <a:latin typeface="Times New Roman" panose="02020603050405020304" pitchFamily="18" charset="0"/>
                          <a:cs typeface="Times New Roman" panose="02020603050405020304" pitchFamily="18" charset="0"/>
                        </a:rPr>
                        <a:t>TITLE</a:t>
                      </a:r>
                      <a:r>
                        <a:rPr lang="en-US" sz="1600" baseline="0" dirty="0" smtClean="0">
                          <a:latin typeface="Times New Roman" panose="02020603050405020304" pitchFamily="18" charset="0"/>
                          <a:cs typeface="Times New Roman" panose="02020603050405020304" pitchFamily="18" charset="0"/>
                        </a:rPr>
                        <a:t> OF THE PAPER</a:t>
                      </a:r>
                      <a:endParaRPr lang="en-IN" sz="16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r>
                        <a:rPr lang="en-US" sz="1600" dirty="0" smtClean="0">
                          <a:latin typeface="Times New Roman" panose="02020603050405020304" pitchFamily="18" charset="0"/>
                          <a:cs typeface="Times New Roman" panose="02020603050405020304" pitchFamily="18" charset="0"/>
                        </a:rPr>
                        <a:t>AUTHORS</a:t>
                      </a:r>
                      <a:endParaRPr lang="en-IN" sz="16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algn="ctr"/>
                      <a:r>
                        <a:rPr lang="en-US" sz="1600" dirty="0" smtClean="0">
                          <a:latin typeface="Times New Roman" panose="02020603050405020304" pitchFamily="18" charset="0"/>
                          <a:cs typeface="Times New Roman" panose="02020603050405020304" pitchFamily="18" charset="0"/>
                        </a:rPr>
                        <a:t>YEAR</a:t>
                      </a:r>
                      <a:endParaRPr lang="en-IN" sz="16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r>
                        <a:rPr lang="en-US" sz="1600" dirty="0" smtClean="0">
                          <a:latin typeface="Times New Roman" panose="02020603050405020304" pitchFamily="18" charset="0"/>
                          <a:cs typeface="Times New Roman" panose="02020603050405020304" pitchFamily="18" charset="0"/>
                        </a:rPr>
                        <a:t>METHODOLOGY</a:t>
                      </a:r>
                      <a:r>
                        <a:rPr lang="en-US" sz="1600" baseline="0" dirty="0" smtClean="0">
                          <a:latin typeface="Times New Roman" panose="02020603050405020304" pitchFamily="18" charset="0"/>
                          <a:cs typeface="Times New Roman" panose="02020603050405020304" pitchFamily="18" charset="0"/>
                        </a:rPr>
                        <a:t> USED</a:t>
                      </a:r>
                      <a:endParaRPr lang="en-IN" sz="16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r>
                        <a:rPr lang="en-US" sz="1600" dirty="0" smtClean="0">
                          <a:latin typeface="Times New Roman" panose="02020603050405020304" pitchFamily="18" charset="0"/>
                          <a:cs typeface="Times New Roman" panose="02020603050405020304" pitchFamily="18" charset="0"/>
                        </a:rPr>
                        <a:t>ADVANTAGES</a:t>
                      </a:r>
                      <a:endParaRPr lang="en-IN" sz="16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r>
                        <a:rPr lang="en-US" sz="1600" dirty="0" smtClean="0">
                          <a:latin typeface="Times New Roman" panose="02020603050405020304" pitchFamily="18" charset="0"/>
                          <a:cs typeface="Times New Roman" panose="02020603050405020304" pitchFamily="18" charset="0"/>
                        </a:rPr>
                        <a:t>DISADVANTAGES</a:t>
                      </a:r>
                      <a:endParaRPr lang="en-IN" sz="16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434220">
                <a:tc>
                  <a:txBody>
                    <a:bodyPr/>
                    <a:p>
                      <a:pPr marL="40005" indent="0" algn="l">
                        <a:spcBef>
                          <a:spcPct val="0"/>
                        </a:spcBef>
                        <a:spcAft>
                          <a:spcPct val="0"/>
                        </a:spcAft>
                      </a:pPr>
                      <a:r>
                        <a:rPr sz="1600" b="0">
                          <a:latin typeface="Times New Roman" panose="02020603050405020304"/>
                          <a:ea typeface="SimSun" panose="02010600030101010101" pitchFamily="2" charset="-122"/>
                        </a:rPr>
                        <a:t>9</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sz="1600" b="0">
                          <a:latin typeface="Times New Roman" panose="02020603050405020304"/>
                          <a:ea typeface="SimSun" panose="02010600030101010101" pitchFamily="2" charset="-122"/>
                        </a:rPr>
                        <a:t>An Analysis of Security Protocols in Online Auction Systems</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sz="1600" b="0">
                          <a:latin typeface="Times New Roman" panose="02020603050405020304"/>
                          <a:ea typeface="SimSun" panose="02010600030101010101" pitchFamily="2" charset="-122"/>
                        </a:rPr>
                        <a:t>D. Brown, E. Davis</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ctr">
                        <a:spcBef>
                          <a:spcPct val="0"/>
                        </a:spcBef>
                        <a:spcAft>
                          <a:spcPct val="0"/>
                        </a:spcAft>
                      </a:pPr>
                      <a:r>
                        <a:rPr sz="1600" b="0">
                          <a:latin typeface="Times New Roman" panose="02020603050405020304"/>
                          <a:ea typeface="SimSun" panose="02010600030101010101" pitchFamily="2" charset="-122"/>
                        </a:rPr>
                        <a:t>2020</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sz="1600" b="0">
                          <a:latin typeface="Times New Roman" panose="02020603050405020304"/>
                          <a:ea typeface="SimSun" panose="02010600030101010101" pitchFamily="2" charset="-122"/>
                        </a:rPr>
                        <a:t>Compares TLS, SSL, Zero-Knowledge Proofs (ZKP), and Blockchain for auction security.</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sz="1600" b="0">
                          <a:latin typeface="Times New Roman" panose="02020603050405020304"/>
                          <a:ea typeface="SimSun" panose="02010600030101010101" pitchFamily="2" charset="-122"/>
                        </a:rPr>
                        <a:t>- Identifies best security measures for different auction types</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sz="1600" b="0">
                          <a:latin typeface="Times New Roman" panose="02020603050405020304"/>
                          <a:ea typeface="SimSun" panose="02010600030101010101" pitchFamily="2" charset="-122"/>
                        </a:rPr>
                        <a:t>- No </a:t>
                      </a:r>
                      <a:r>
                        <a:rPr sz="1600" b="0">
                          <a:latin typeface="Times New Roman" panose="02020603050405020304"/>
                          <a:ea typeface="SimSun" panose="02010600030101010101" pitchFamily="2" charset="-122"/>
                        </a:rPr>
                        <a:t>real-world implementation </a:t>
                      </a:r>
                      <a:br>
                        <a:rPr sz="1600" b="0">
                          <a:latin typeface="Times New Roman" panose="02020603050405020304"/>
                          <a:ea typeface="SimSun" panose="02010600030101010101" pitchFamily="2" charset="-122"/>
                        </a:rPr>
                      </a:br>
                      <a:r>
                        <a:rPr sz="1600" b="0">
                          <a:latin typeface="Times New Roman" panose="02020603050405020304"/>
                          <a:ea typeface="SimSun" panose="02010600030101010101" pitchFamily="2" charset="-122"/>
                        </a:rPr>
                        <a:t>- Does not address scalability</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567509">
                <a:tc>
                  <a:txBody>
                    <a:bodyPr/>
                    <a:p>
                      <a:pPr marL="40005" indent="0" algn="l">
                        <a:spcBef>
                          <a:spcPct val="0"/>
                        </a:spcBef>
                        <a:spcAft>
                          <a:spcPct val="0"/>
                        </a:spcAft>
                      </a:pPr>
                      <a:r>
                        <a:rPr sz="1600" b="0">
                          <a:latin typeface="Times New Roman" panose="02020603050405020304"/>
                          <a:ea typeface="SimSun" panose="02010600030101010101" pitchFamily="2" charset="-122"/>
                        </a:rPr>
                        <a:t>10</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sz="1600" b="0">
                          <a:latin typeface="Times New Roman" panose="02020603050405020304"/>
                          <a:ea typeface="SimSun" panose="02010600030101010101" pitchFamily="2" charset="-122"/>
                        </a:rPr>
                        <a:t>Designing a Secure Reverse Auction Framework for Procurement Processes</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sz="1600" b="0">
                          <a:latin typeface="Times New Roman" panose="02020603050405020304"/>
                          <a:ea typeface="SimSun" panose="02010600030101010101" pitchFamily="2" charset="-122"/>
                        </a:rPr>
                        <a:t>F. Rossi, G. Bianchi</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ctr">
                        <a:spcBef>
                          <a:spcPct val="0"/>
                        </a:spcBef>
                        <a:spcAft>
                          <a:spcPct val="0"/>
                        </a:spcAft>
                      </a:pPr>
                      <a:r>
                        <a:rPr sz="1600" b="0">
                          <a:latin typeface="Times New Roman" panose="02020603050405020304"/>
                          <a:ea typeface="SimSun" panose="02010600030101010101" pitchFamily="2" charset="-122"/>
                        </a:rPr>
                        <a:t>2019</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sz="1600" b="0">
                          <a:latin typeface="Times New Roman" panose="02020603050405020304"/>
                          <a:ea typeface="SimSun" panose="02010600030101010101" pitchFamily="2" charset="-122"/>
                        </a:rPr>
                        <a:t>Uses </a:t>
                      </a:r>
                      <a:r>
                        <a:rPr sz="1600" b="0">
                          <a:latin typeface="Times New Roman" panose="02020603050405020304"/>
                          <a:ea typeface="SimSun" panose="02010600030101010101" pitchFamily="2" charset="-122"/>
                        </a:rPr>
                        <a:t>Zero-Knowledge Proofs (ZKP) to verify the legitimacy of bids without revealing actual values.</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sz="1600" b="0">
                          <a:latin typeface="Times New Roman" panose="02020603050405020304"/>
                          <a:ea typeface="SimSun" panose="02010600030101010101" pitchFamily="2" charset="-122"/>
                        </a:rPr>
                        <a:t>- Ensures </a:t>
                      </a:r>
                      <a:r>
                        <a:rPr sz="1600" b="0">
                          <a:latin typeface="Times New Roman" panose="02020603050405020304"/>
                          <a:ea typeface="SimSun" panose="02010600030101010101" pitchFamily="2" charset="-122"/>
                        </a:rPr>
                        <a:t>bid fairness </a:t>
                      </a:r>
                      <a:br>
                        <a:rPr sz="1600" b="0">
                          <a:latin typeface="Times New Roman" panose="02020603050405020304"/>
                          <a:ea typeface="SimSun" panose="02010600030101010101" pitchFamily="2" charset="-122"/>
                        </a:rPr>
                      </a:br>
                      <a:r>
                        <a:rPr sz="1600" b="0">
                          <a:latin typeface="Times New Roman" panose="02020603050405020304"/>
                          <a:ea typeface="SimSun" panose="02010600030101010101" pitchFamily="2" charset="-122"/>
                        </a:rPr>
                        <a:t>- Prevents price manipulation</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p>
                      <a:pPr marL="40005" indent="0" algn="l">
                        <a:spcBef>
                          <a:spcPct val="0"/>
                        </a:spcBef>
                        <a:spcAft>
                          <a:spcPct val="0"/>
                        </a:spcAft>
                      </a:pPr>
                      <a:r>
                        <a:rPr sz="1600" b="0">
                          <a:latin typeface="Times New Roman" panose="02020603050405020304"/>
                          <a:ea typeface="SimSun" panose="02010600030101010101" pitchFamily="2" charset="-122"/>
                        </a:rPr>
                        <a:t>- Requires high computational resources </a:t>
                      </a:r>
                      <a:br>
                        <a:rPr sz="1600" b="0">
                          <a:latin typeface="Times New Roman" panose="02020603050405020304"/>
                          <a:ea typeface="SimSun" panose="02010600030101010101" pitchFamily="2" charset="-122"/>
                        </a:rPr>
                      </a:br>
                      <a:r>
                        <a:rPr sz="1600" b="0">
                          <a:latin typeface="Times New Roman" panose="02020603050405020304"/>
                          <a:ea typeface="SimSun" panose="02010600030101010101" pitchFamily="2" charset="-122"/>
                        </a:rPr>
                        <a:t>- Complex integration with existing auction platforms</a:t>
                      </a:r>
                      <a:endParaRPr sz="1600" b="0">
                        <a:latin typeface="Times New Roman" panose="02020603050405020304"/>
                        <a:ea typeface="SimSun" panose="02010600030101010101" pitchFamily="2" charset="-122"/>
                      </a:endParaRPr>
                    </a:p>
                  </a:txBody>
                  <a:tcPr marL="9525" marR="9525" marT="9525" marB="9525"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9"/>
          <p:cNvSpPr txBox="1"/>
          <p:nvPr/>
        </p:nvSpPr>
        <p:spPr>
          <a:xfrm>
            <a:off x="1067219" y="1026143"/>
            <a:ext cx="9706460" cy="1038746"/>
          </a:xfrm>
          <a:prstGeom prst="rect">
            <a:avLst/>
          </a:prstGeom>
        </p:spPr>
        <p:txBody>
          <a:bodyPr lIns="0" tIns="0" rIns="0" bIns="0" rtlCol="0" anchor="t">
            <a:spAutoFit/>
          </a:bodyPr>
          <a:p>
            <a:pPr algn="ctr">
              <a:lnSpc>
                <a:spcPts val="8065"/>
              </a:lnSpc>
              <a:spcBef>
                <a:spcPct val="0"/>
              </a:spcBef>
            </a:pPr>
            <a:r>
              <a:rPr lang="en-US" sz="4400" dirty="0" smtClean="0">
                <a:latin typeface="Times New Roman" panose="02020603050405020304" pitchFamily="18" charset="0"/>
                <a:ea typeface="HK Modular"/>
                <a:cs typeface="Times New Roman" panose="02020603050405020304" pitchFamily="18" charset="0"/>
                <a:sym typeface="HK Modular"/>
              </a:rPr>
              <a:t>EXISITING SYSTEM</a:t>
            </a:r>
            <a:endParaRPr lang="en-US" sz="4400" dirty="0">
              <a:latin typeface="Times New Roman" panose="02020603050405020304" pitchFamily="18" charset="0"/>
              <a:ea typeface="HK Modular"/>
              <a:cs typeface="Times New Roman" panose="02020603050405020304" pitchFamily="18" charset="0"/>
              <a:sym typeface="HK Modular"/>
            </a:endParaRPr>
          </a:p>
        </p:txBody>
      </p:sp>
      <p:sp>
        <p:nvSpPr>
          <p:cNvPr id="5" name="Rectangle 3"/>
          <p:cNvSpPr>
            <a:spLocks noChangeArrowheads="1"/>
          </p:cNvSpPr>
          <p:nvPr/>
        </p:nvSpPr>
        <p:spPr bwMode="auto">
          <a:xfrm>
            <a:off x="969645" y="2330450"/>
            <a:ext cx="10349865" cy="3644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p>
            <a:pPr marL="285750" indent="-285750">
              <a:lnSpc>
                <a:spcPct val="130000"/>
              </a:lnSpc>
              <a:buFont typeface="Wingdings" panose="05000000000000000000" pitchFamily="2" charset="2"/>
              <a:buChar char="v"/>
            </a:pPr>
            <a:r>
              <a:rPr lang="en-US" altLang="en-US" dirty="0" smtClean="0">
                <a:ln>
                  <a:noFill/>
                </a:ln>
                <a:effectLst/>
                <a:latin typeface="Times New Roman" panose="02020603050405020304" pitchFamily="18" charset="0"/>
                <a:cs typeface="Times New Roman" panose="02020603050405020304" pitchFamily="18" charset="0"/>
                <a:sym typeface="+mn-ea"/>
              </a:rPr>
              <a:t>Many existing platforms have </a:t>
            </a:r>
            <a:r>
              <a:rPr lang="en-US" altLang="en-US" b="1" dirty="0" smtClean="0">
                <a:ln>
                  <a:noFill/>
                </a:ln>
                <a:effectLst/>
                <a:latin typeface="Times New Roman" panose="02020603050405020304" pitchFamily="18" charset="0"/>
                <a:cs typeface="Times New Roman" panose="02020603050405020304" pitchFamily="18" charset="0"/>
                <a:sym typeface="+mn-ea"/>
              </a:rPr>
              <a:t>limited or no proper user verification,</a:t>
            </a:r>
            <a:r>
              <a:rPr lang="en-US" altLang="en-US" dirty="0" smtClean="0">
                <a:ln>
                  <a:noFill/>
                </a:ln>
                <a:effectLst/>
                <a:latin typeface="Times New Roman" panose="02020603050405020304" pitchFamily="18" charset="0"/>
                <a:cs typeface="Times New Roman" panose="02020603050405020304" pitchFamily="18" charset="0"/>
                <a:sym typeface="+mn-ea"/>
              </a:rPr>
              <a:t> which can lead to fake bidders, fraudulent sellers, and manipulation of auction results.</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285750" indent="-285750">
              <a:lnSpc>
                <a:spcPct val="130000"/>
              </a:lnSpc>
              <a:buFont typeface="Wingdings" panose="05000000000000000000" pitchFamily="2" charset="2"/>
              <a:buChar char="v"/>
            </a:pP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285750" indent="-285750">
              <a:lnSpc>
                <a:spcPct val="130000"/>
              </a:lnSpc>
              <a:buFont typeface="Wingdings" panose="05000000000000000000" pitchFamily="2" charset="2"/>
              <a:buChar char="v"/>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Most traditional auction systems </a:t>
            </a: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do not support real-time </a:t>
            </a:r>
            <a:r>
              <a:rPr kumimoji="0" lang="en-IN"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interaction</a:t>
            </a: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between buyers and sellers</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making the bidding process slow and less engaging.</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285750" indent="-285750">
              <a:lnSpc>
                <a:spcPct val="130000"/>
              </a:lnSpc>
              <a:buFont typeface="Wingdings" panose="05000000000000000000" pitchFamily="2" charset="2"/>
              <a:buChar char="v"/>
            </a:pP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285750" indent="-285750">
              <a:lnSpc>
                <a:spcPct val="130000"/>
              </a:lnSpc>
              <a:buFont typeface="Wingdings" panose="05000000000000000000" pitchFamily="2" charset="2"/>
              <a:buChar char="v"/>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Existing systems often </a:t>
            </a: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lack intuitive interfaces, confirmation prompts, and </a:t>
            </a:r>
            <a:r>
              <a:rPr kumimoji="0" lang="en-IN"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limited data storage</a:t>
            </a: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making it difficult for non-technical users to navigate and participate effectively in auctions.</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9"/>
          <p:cNvSpPr txBox="1"/>
          <p:nvPr/>
        </p:nvSpPr>
        <p:spPr>
          <a:xfrm>
            <a:off x="944125" y="712177"/>
            <a:ext cx="9706460" cy="1038746"/>
          </a:xfrm>
          <a:prstGeom prst="rect">
            <a:avLst/>
          </a:prstGeom>
        </p:spPr>
        <p:txBody>
          <a:bodyPr lIns="0" tIns="0" rIns="0" bIns="0" rtlCol="0" anchor="t">
            <a:spAutoFit/>
          </a:bodyPr>
          <a:p>
            <a:pPr algn="ctr">
              <a:lnSpc>
                <a:spcPts val="8065"/>
              </a:lnSpc>
              <a:spcBef>
                <a:spcPct val="0"/>
              </a:spcBef>
            </a:pPr>
            <a:r>
              <a:rPr lang="en-US" sz="4400" dirty="0" smtClean="0">
                <a:latin typeface="Times New Roman" panose="02020603050405020304" pitchFamily="18" charset="0"/>
                <a:ea typeface="HK Modular"/>
                <a:cs typeface="Times New Roman" panose="02020603050405020304" pitchFamily="18" charset="0"/>
                <a:sym typeface="HK Modular"/>
              </a:rPr>
              <a:t>PROPOSED SYSTEM</a:t>
            </a:r>
            <a:endParaRPr lang="en-US" sz="4400" dirty="0">
              <a:latin typeface="Times New Roman" panose="02020603050405020304" pitchFamily="18" charset="0"/>
              <a:ea typeface="HK Modular"/>
              <a:cs typeface="Times New Roman" panose="02020603050405020304" pitchFamily="18" charset="0"/>
              <a:sym typeface="HK Modular"/>
            </a:endParaRPr>
          </a:p>
        </p:txBody>
      </p:sp>
      <p:sp>
        <p:nvSpPr>
          <p:cNvPr id="4" name="Rectangle 2"/>
          <p:cNvSpPr>
            <a:spLocks noChangeArrowheads="1"/>
          </p:cNvSpPr>
          <p:nvPr/>
        </p:nvSpPr>
        <p:spPr bwMode="auto">
          <a:xfrm>
            <a:off x="944125" y="2514299"/>
            <a:ext cx="10923913" cy="3080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p>
            <a:pPr marL="285750" indent="-285750">
              <a:lnSpc>
                <a:spcPct val="120000"/>
              </a:lnSpc>
              <a:buFont typeface="Wingdings" panose="05000000000000000000" pitchFamily="2" charset="2"/>
              <a:buChar char="v"/>
            </a:pPr>
            <a:r>
              <a:rPr lang="en-US" altLang="en-US" dirty="0">
                <a:latin typeface="Times New Roman" panose="02020603050405020304" pitchFamily="18" charset="0"/>
                <a:cs typeface="Times New Roman" panose="02020603050405020304" pitchFamily="18" charset="0"/>
              </a:rPr>
              <a:t>The system uses technologies like </a:t>
            </a:r>
            <a:r>
              <a:rPr lang="en-US" altLang="en-US" b="1" dirty="0">
                <a:latin typeface="Times New Roman" panose="02020603050405020304" pitchFamily="18" charset="0"/>
                <a:cs typeface="Times New Roman" panose="02020603050405020304" pitchFamily="18" charset="0"/>
              </a:rPr>
              <a:t>SignalR </a:t>
            </a:r>
            <a:r>
              <a:rPr lang="en-US" altLang="en-US" dirty="0">
                <a:latin typeface="Times New Roman" panose="02020603050405020304" pitchFamily="18" charset="0"/>
                <a:cs typeface="Times New Roman" panose="02020603050405020304" pitchFamily="18" charset="0"/>
              </a:rPr>
              <a:t>to enable </a:t>
            </a:r>
            <a:r>
              <a:rPr lang="en-US" altLang="en-US" b="1" dirty="0">
                <a:latin typeface="Times New Roman" panose="02020603050405020304" pitchFamily="18" charset="0"/>
                <a:cs typeface="Times New Roman" panose="02020603050405020304" pitchFamily="18" charset="0"/>
              </a:rPr>
              <a:t>live auction updates and interactive chat features, </a:t>
            </a:r>
            <a:r>
              <a:rPr lang="en-US" altLang="en-US" dirty="0">
                <a:latin typeface="Times New Roman" panose="02020603050405020304" pitchFamily="18" charset="0"/>
                <a:cs typeface="Times New Roman" panose="02020603050405020304" pitchFamily="18" charset="0"/>
              </a:rPr>
              <a:t>allowing buyers and sellers to engage in real-time bidding sessions.</a:t>
            </a:r>
            <a:endParaRPr lang="en-US" altLang="en-US" dirty="0">
              <a:latin typeface="Times New Roman" panose="02020603050405020304" pitchFamily="18" charset="0"/>
              <a:cs typeface="Times New Roman" panose="02020603050405020304" pitchFamily="18" charset="0"/>
            </a:endParaRPr>
          </a:p>
          <a:p>
            <a:pPr marL="285750" indent="-285750">
              <a:lnSpc>
                <a:spcPct val="120000"/>
              </a:lnSpc>
              <a:buFont typeface="Wingdings" panose="05000000000000000000" pitchFamily="2" charset="2"/>
              <a:buChar char="v"/>
            </a:pPr>
            <a:endParaRPr lang="en-US" altLang="en-US" dirty="0">
              <a:latin typeface="Times New Roman" panose="02020603050405020304" pitchFamily="18" charset="0"/>
              <a:cs typeface="Times New Roman" panose="02020603050405020304" pitchFamily="18" charset="0"/>
            </a:endParaRPr>
          </a:p>
          <a:p>
            <a:pPr marL="285750" indent="-285750">
              <a:lnSpc>
                <a:spcPct val="120000"/>
              </a:lnSpc>
              <a:buFont typeface="Wingdings" panose="05000000000000000000" pitchFamily="2" charset="2"/>
              <a:buChar char="v"/>
            </a:pPr>
            <a:r>
              <a:rPr lang="en-US" altLang="en-US" dirty="0">
                <a:latin typeface="Times New Roman" panose="02020603050405020304" pitchFamily="18" charset="0"/>
                <a:cs typeface="Times New Roman" panose="02020603050405020304" pitchFamily="18" charset="0"/>
              </a:rPr>
              <a:t>The platform implements </a:t>
            </a:r>
            <a:r>
              <a:rPr lang="en-US" altLang="en-US" b="1" dirty="0">
                <a:latin typeface="Times New Roman" panose="02020603050405020304" pitchFamily="18" charset="0"/>
                <a:cs typeface="Times New Roman" panose="02020603050405020304" pitchFamily="18" charset="0"/>
              </a:rPr>
              <a:t>secure login systems wi</a:t>
            </a:r>
            <a:r>
              <a:rPr lang="en-IN" altLang="en-US" b="1" dirty="0">
                <a:latin typeface="Times New Roman" panose="02020603050405020304" pitchFamily="18" charset="0"/>
                <a:cs typeface="Times New Roman" panose="02020603050405020304" pitchFamily="18" charset="0"/>
              </a:rPr>
              <a:t>th scalable user identity database</a:t>
            </a:r>
            <a:r>
              <a:rPr lang="en-US" altLang="en-US" dirty="0">
                <a:latin typeface="Times New Roman" panose="02020603050405020304" pitchFamily="18" charset="0"/>
                <a:cs typeface="Times New Roman" panose="02020603050405020304" pitchFamily="18" charset="0"/>
              </a:rPr>
              <a:t> to verify both buyers and sellers before allowing access to sensitive auction functionalities, reducing fraud and ensuring authenticity.</a:t>
            </a:r>
            <a:endParaRPr lang="en-US" altLang="en-US" dirty="0">
              <a:latin typeface="Times New Roman" panose="02020603050405020304" pitchFamily="18" charset="0"/>
              <a:cs typeface="Times New Roman" panose="02020603050405020304" pitchFamily="18" charset="0"/>
            </a:endParaRPr>
          </a:p>
          <a:p>
            <a:pPr marL="285750" indent="-285750">
              <a:lnSpc>
                <a:spcPct val="120000"/>
              </a:lnSpc>
              <a:buFont typeface="Wingdings" panose="05000000000000000000" pitchFamily="2" charset="2"/>
              <a:buChar char="v"/>
            </a:pPr>
            <a:endParaRPr lang="en-US" altLang="en-US" dirty="0">
              <a:latin typeface="Times New Roman" panose="02020603050405020304" pitchFamily="18" charset="0"/>
              <a:cs typeface="Times New Roman" panose="02020603050405020304" pitchFamily="18" charset="0"/>
            </a:endParaRPr>
          </a:p>
          <a:p>
            <a:pPr marL="285750" indent="-285750">
              <a:lnSpc>
                <a:spcPct val="120000"/>
              </a:lnSpc>
              <a:buFont typeface="Wingdings" panose="05000000000000000000" pitchFamily="2" charset="2"/>
              <a:buChar char="v"/>
            </a:pPr>
            <a:r>
              <a:rPr lang="en-US" altLang="en-US" dirty="0">
                <a:latin typeface="Times New Roman" panose="02020603050405020304" pitchFamily="18" charset="0"/>
                <a:cs typeface="Times New Roman" panose="02020603050405020304" pitchFamily="18" charset="0"/>
              </a:rPr>
              <a:t>The proposed system </a:t>
            </a:r>
            <a:r>
              <a:rPr lang="en-IN" altLang="en-US" dirty="0">
                <a:latin typeface="Times New Roman" panose="02020603050405020304" pitchFamily="18" charset="0"/>
                <a:cs typeface="Times New Roman" panose="02020603050405020304" pitchFamily="18" charset="0"/>
              </a:rPr>
              <a:t>uses </a:t>
            </a:r>
            <a:r>
              <a:rPr lang="en-IN" altLang="en-US" b="1" dirty="0">
                <a:latin typeface="Times New Roman" panose="02020603050405020304" pitchFamily="18" charset="0"/>
                <a:cs typeface="Times New Roman" panose="02020603050405020304" pitchFamily="18" charset="0"/>
              </a:rPr>
              <a:t>Microsoft Entity Framework Core</a:t>
            </a:r>
            <a:r>
              <a:rPr lang="en-IN" altLang="en-US" dirty="0">
                <a:latin typeface="Times New Roman" panose="02020603050405020304" pitchFamily="18" charset="0"/>
                <a:cs typeface="Times New Roman" panose="02020603050405020304" pitchFamily="18" charset="0"/>
              </a:rPr>
              <a:t> </a:t>
            </a:r>
            <a:r>
              <a:rPr lang="en-IN" altLang="en-US" b="1" dirty="0">
                <a:latin typeface="Times New Roman" panose="02020603050405020304" pitchFamily="18" charset="0"/>
                <a:cs typeface="Times New Roman" panose="02020603050405020304" pitchFamily="18" charset="0"/>
              </a:rPr>
              <a:t>and its packages</a:t>
            </a:r>
            <a:r>
              <a:rPr lang="en-IN" altLang="en-US" dirty="0">
                <a:latin typeface="Times New Roman" panose="02020603050405020304" pitchFamily="18" charset="0"/>
                <a:cs typeface="Times New Roman" panose="02020603050405020304" pitchFamily="18" charset="0"/>
              </a:rPr>
              <a:t> for</a:t>
            </a:r>
            <a:r>
              <a:rPr lang="en-US" altLang="en-US" dirty="0">
                <a:latin typeface="Times New Roman" panose="02020603050405020304" pitchFamily="18" charset="0"/>
                <a:cs typeface="Times New Roman" panose="02020603050405020304" pitchFamily="18" charset="0"/>
              </a:rPr>
              <a:t> intuitive forms for artwork/product submission, guided workflows, and confirmation prompts before key actions (e.g., submitting listings or placing bids), ensuring a smooth and error-free user experience.</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9"/>
          <p:cNvSpPr txBox="1"/>
          <p:nvPr/>
        </p:nvSpPr>
        <p:spPr>
          <a:xfrm>
            <a:off x="1214108" y="371036"/>
            <a:ext cx="9706460" cy="1038746"/>
          </a:xfrm>
          <a:prstGeom prst="rect">
            <a:avLst/>
          </a:prstGeom>
        </p:spPr>
        <p:txBody>
          <a:bodyPr lIns="0" tIns="0" rIns="0" bIns="0" rtlCol="0" anchor="t">
            <a:spAutoFit/>
          </a:bodyPr>
          <a:p>
            <a:pPr algn="ctr">
              <a:lnSpc>
                <a:spcPts val="8065"/>
              </a:lnSpc>
              <a:spcBef>
                <a:spcPct val="0"/>
              </a:spcBef>
            </a:pPr>
            <a:r>
              <a:rPr lang="en-US" sz="4400" dirty="0" smtClean="0">
                <a:latin typeface="Times New Roman" panose="02020603050405020304" pitchFamily="18" charset="0"/>
                <a:ea typeface="HK Modular"/>
                <a:cs typeface="Times New Roman" panose="02020603050405020304" pitchFamily="18" charset="0"/>
                <a:sym typeface="HK Modular"/>
              </a:rPr>
              <a:t> METHODOLOGY USED</a:t>
            </a:r>
            <a:endParaRPr lang="en-US" sz="4400" dirty="0">
              <a:latin typeface="Times New Roman" panose="02020603050405020304" pitchFamily="18" charset="0"/>
              <a:ea typeface="HK Modular"/>
              <a:cs typeface="Times New Roman" panose="02020603050405020304" pitchFamily="18" charset="0"/>
              <a:sym typeface="HK Modular"/>
            </a:endParaRPr>
          </a:p>
        </p:txBody>
      </p:sp>
      <p:sp>
        <p:nvSpPr>
          <p:cNvPr id="4" name="Rectangle 2"/>
          <p:cNvSpPr>
            <a:spLocks noChangeArrowheads="1"/>
          </p:cNvSpPr>
          <p:nvPr/>
        </p:nvSpPr>
        <p:spPr bwMode="auto">
          <a:xfrm>
            <a:off x="986030" y="2096954"/>
            <a:ext cx="10162616" cy="3969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p>
            <a:pPr marL="285750" indent="-285750">
              <a:lnSpc>
                <a:spcPct val="100000"/>
              </a:lnSpc>
              <a:buFont typeface="Wingdings" panose="05000000000000000000" pitchFamily="2" charset="2"/>
              <a:buChar char="Ø"/>
            </a:pPr>
            <a:r>
              <a:rPr lang="en-US" altLang="en-US" b="1" dirty="0">
                <a:latin typeface="Times New Roman" panose="02020603050405020304" pitchFamily="18" charset="0"/>
                <a:cs typeface="Times New Roman" panose="02020603050405020304" pitchFamily="18" charset="0"/>
              </a:rPr>
              <a:t>Requirement Analysis:</a:t>
            </a:r>
            <a:endParaRPr lang="en-US" altLang="en-US" b="1" dirty="0">
              <a:latin typeface="Times New Roman" panose="02020603050405020304" pitchFamily="18" charset="0"/>
              <a:cs typeface="Times New Roman" panose="02020603050405020304" pitchFamily="18" charset="0"/>
            </a:endParaRPr>
          </a:p>
          <a:p>
            <a:pPr indent="457200">
              <a:lnSpc>
                <a:spcPct val="100000"/>
              </a:lnSpc>
              <a:buFont typeface="Wingdings" panose="05000000000000000000" pitchFamily="2" charset="2"/>
              <a:buNone/>
            </a:pPr>
            <a:r>
              <a:rPr lang="en-US" altLang="en-US" dirty="0">
                <a:latin typeface="Times New Roman" panose="02020603050405020304" pitchFamily="18" charset="0"/>
                <a:cs typeface="Times New Roman" panose="02020603050405020304" pitchFamily="18" charset="0"/>
              </a:rPr>
              <a:t>Identified the key functionalities needed in the auction system, such as </a:t>
            </a:r>
            <a:r>
              <a:rPr lang="en-US" altLang="en-US" b="1" dirty="0">
                <a:latin typeface="Times New Roman" panose="02020603050405020304" pitchFamily="18" charset="0"/>
                <a:cs typeface="Times New Roman" panose="02020603050405020304" pitchFamily="18" charset="0"/>
              </a:rPr>
              <a:t>real-time bidding, user verification, artwork/product submission, and secure access</a:t>
            </a:r>
            <a:r>
              <a:rPr lang="en-US" altLang="en-US" dirty="0">
                <a:latin typeface="Times New Roman" panose="02020603050405020304" pitchFamily="18" charset="0"/>
                <a:cs typeface="Times New Roman" panose="02020603050405020304" pitchFamily="18" charset="0"/>
              </a:rPr>
              <a:t> control for buyers and sellers.</a:t>
            </a:r>
            <a:endParaRPr lang="en-US" altLang="en-US" dirty="0">
              <a:latin typeface="Times New Roman" panose="02020603050405020304" pitchFamily="18" charset="0"/>
              <a:cs typeface="Times New Roman" panose="02020603050405020304" pitchFamily="18" charset="0"/>
            </a:endParaRPr>
          </a:p>
          <a:p>
            <a:pPr marL="285750" indent="-285750">
              <a:lnSpc>
                <a:spcPct val="100000"/>
              </a:lnSpc>
              <a:buFont typeface="Wingdings" panose="05000000000000000000" pitchFamily="2" charset="2"/>
              <a:buChar char="Ø"/>
            </a:pPr>
            <a:endParaRPr lang="en-US" altLang="en-US" dirty="0">
              <a:latin typeface="Times New Roman" panose="02020603050405020304" pitchFamily="18" charset="0"/>
              <a:cs typeface="Times New Roman" panose="02020603050405020304" pitchFamily="18" charset="0"/>
            </a:endParaRPr>
          </a:p>
          <a:p>
            <a:pPr marL="285750" indent="-285750">
              <a:lnSpc>
                <a:spcPct val="100000"/>
              </a:lnSpc>
              <a:buFont typeface="Wingdings" panose="05000000000000000000" pitchFamily="2" charset="2"/>
              <a:buChar char="Ø"/>
            </a:pPr>
            <a:r>
              <a:rPr lang="en-US" altLang="en-US" b="1" dirty="0">
                <a:latin typeface="Times New Roman" panose="02020603050405020304" pitchFamily="18" charset="0"/>
                <a:cs typeface="Times New Roman" panose="02020603050405020304" pitchFamily="18" charset="0"/>
              </a:rPr>
              <a:t>System Design:</a:t>
            </a:r>
            <a:endParaRPr lang="en-US" altLang="en-US" b="1" dirty="0">
              <a:latin typeface="Times New Roman" panose="02020603050405020304" pitchFamily="18" charset="0"/>
              <a:cs typeface="Times New Roman" panose="02020603050405020304" pitchFamily="18" charset="0"/>
            </a:endParaRPr>
          </a:p>
          <a:p>
            <a:pPr indent="457200">
              <a:lnSpc>
                <a:spcPct val="100000"/>
              </a:lnSpc>
              <a:buFont typeface="Wingdings" panose="05000000000000000000" pitchFamily="2" charset="2"/>
              <a:buNone/>
            </a:pPr>
            <a:r>
              <a:rPr lang="en-US" altLang="en-US" dirty="0">
                <a:latin typeface="Times New Roman" panose="02020603050405020304" pitchFamily="18" charset="0"/>
                <a:cs typeface="Times New Roman" panose="02020603050405020304" pitchFamily="18" charset="0"/>
              </a:rPr>
              <a:t>Designed the architecture using the </a:t>
            </a:r>
            <a:r>
              <a:rPr lang="en-US" altLang="en-US" b="1" dirty="0">
                <a:latin typeface="Times New Roman" panose="02020603050405020304" pitchFamily="18" charset="0"/>
                <a:cs typeface="Times New Roman" panose="02020603050405020304" pitchFamily="18" charset="0"/>
              </a:rPr>
              <a:t>ASP.NET Core MVC framework</a:t>
            </a:r>
            <a:r>
              <a:rPr lang="en-US" altLang="en-US" dirty="0">
                <a:latin typeface="Times New Roman" panose="02020603050405020304" pitchFamily="18" charset="0"/>
                <a:cs typeface="Times New Roman" panose="02020603050405020304" pitchFamily="18" charset="0"/>
              </a:rPr>
              <a:t> with a layered structure separating models, views, and controllers.</a:t>
            </a:r>
            <a:endParaRPr lang="en-US" altLang="en-US" dirty="0">
              <a:latin typeface="Times New Roman" panose="02020603050405020304" pitchFamily="18" charset="0"/>
              <a:cs typeface="Times New Roman" panose="02020603050405020304" pitchFamily="18" charset="0"/>
            </a:endParaRPr>
          </a:p>
          <a:p>
            <a:pPr marL="285750" indent="-285750">
              <a:lnSpc>
                <a:spcPct val="100000"/>
              </a:lnSpc>
              <a:buFont typeface="Wingdings" panose="05000000000000000000" pitchFamily="2" charset="2"/>
              <a:buChar char="Ø"/>
            </a:pPr>
            <a:endParaRPr lang="en-US" altLang="en-US" dirty="0">
              <a:latin typeface="Times New Roman" panose="02020603050405020304" pitchFamily="18" charset="0"/>
              <a:cs typeface="Times New Roman" panose="02020603050405020304" pitchFamily="18" charset="0"/>
            </a:endParaRPr>
          </a:p>
          <a:p>
            <a:pPr marL="285750" indent="-285750">
              <a:lnSpc>
                <a:spcPct val="100000"/>
              </a:lnSpc>
              <a:buFont typeface="Wingdings" panose="05000000000000000000" pitchFamily="2" charset="2"/>
              <a:buChar char="Ø"/>
            </a:pPr>
            <a:r>
              <a:rPr lang="en-US" altLang="en-US" b="1" dirty="0">
                <a:latin typeface="Times New Roman" panose="02020603050405020304" pitchFamily="18" charset="0"/>
                <a:cs typeface="Times New Roman" panose="02020603050405020304" pitchFamily="18" charset="0"/>
              </a:rPr>
              <a:t>Database Design and Integration:</a:t>
            </a:r>
            <a:endParaRPr lang="en-US" altLang="en-US" b="1" dirty="0">
              <a:latin typeface="Times New Roman" panose="02020603050405020304" pitchFamily="18" charset="0"/>
              <a:cs typeface="Times New Roman" panose="02020603050405020304" pitchFamily="18" charset="0"/>
            </a:endParaRPr>
          </a:p>
          <a:p>
            <a:pPr indent="457200">
              <a:lnSpc>
                <a:spcPct val="100000"/>
              </a:lnSpc>
              <a:buFont typeface="Wingdings" panose="05000000000000000000" pitchFamily="2" charset="2"/>
              <a:buNone/>
            </a:pPr>
            <a:r>
              <a:rPr lang="en-IN" altLang="en-US" dirty="0">
                <a:latin typeface="Times New Roman" panose="02020603050405020304" pitchFamily="18" charset="0"/>
                <a:cs typeface="Times New Roman" panose="02020603050405020304" pitchFamily="18" charset="0"/>
              </a:rPr>
              <a:t>Designed</a:t>
            </a:r>
            <a:r>
              <a:rPr lang="en-US" altLang="en-US" dirty="0">
                <a:latin typeface="Times New Roman" panose="02020603050405020304" pitchFamily="18" charset="0"/>
                <a:cs typeface="Times New Roman" panose="02020603050405020304" pitchFamily="18" charset="0"/>
              </a:rPr>
              <a:t> with a database using </a:t>
            </a:r>
            <a:r>
              <a:rPr lang="en-US" altLang="en-US" b="1" dirty="0">
                <a:latin typeface="Times New Roman" panose="02020603050405020304" pitchFamily="18" charset="0"/>
                <a:cs typeface="Times New Roman" panose="02020603050405020304" pitchFamily="18" charset="0"/>
              </a:rPr>
              <a:t>SQL Server</a:t>
            </a:r>
            <a:r>
              <a:rPr lang="en-IN" altLang="en-US" b="1" dirty="0">
                <a:latin typeface="Times New Roman" panose="02020603050405020304" pitchFamily="18" charset="0"/>
                <a:cs typeface="Times New Roman" panose="02020603050405020304" pitchFamily="18" charset="0"/>
              </a:rPr>
              <a:t> Management Studio</a:t>
            </a:r>
            <a:r>
              <a:rPr lang="en-US" altLang="en-US" dirty="0">
                <a:latin typeface="Times New Roman" panose="02020603050405020304" pitchFamily="18" charset="0"/>
                <a:cs typeface="Times New Roman" panose="02020603050405020304" pitchFamily="18" charset="0"/>
              </a:rPr>
              <a:t> for persistent storage of auction data.</a:t>
            </a:r>
            <a:endParaRPr lang="en-US" altLang="en-US" dirty="0">
              <a:latin typeface="Times New Roman" panose="02020603050405020304" pitchFamily="18" charset="0"/>
              <a:cs typeface="Times New Roman" panose="02020603050405020304" pitchFamily="18" charset="0"/>
            </a:endParaRPr>
          </a:p>
          <a:p>
            <a:pPr marL="285750" indent="-285750">
              <a:lnSpc>
                <a:spcPct val="100000"/>
              </a:lnSpc>
              <a:buFont typeface="Wingdings" panose="05000000000000000000" pitchFamily="2" charset="2"/>
              <a:buChar char="Ø"/>
            </a:pPr>
            <a:endParaRPr lang="en-US" altLang="en-US" dirty="0">
              <a:latin typeface="Times New Roman" panose="02020603050405020304" pitchFamily="18" charset="0"/>
              <a:cs typeface="Times New Roman" panose="02020603050405020304" pitchFamily="18" charset="0"/>
            </a:endParaRPr>
          </a:p>
          <a:p>
            <a:pPr marL="285750" indent="-285750">
              <a:lnSpc>
                <a:spcPct val="100000"/>
              </a:lnSpc>
              <a:buFont typeface="Wingdings" panose="05000000000000000000" pitchFamily="2" charset="2"/>
              <a:buChar char="Ø"/>
            </a:pPr>
            <a:r>
              <a:rPr lang="en-US" altLang="en-US" b="1" dirty="0">
                <a:latin typeface="Times New Roman" panose="02020603050405020304" pitchFamily="18" charset="0"/>
                <a:cs typeface="Times New Roman" panose="02020603050405020304" pitchFamily="18" charset="0"/>
              </a:rPr>
              <a:t>Real-Time Communication Module:</a:t>
            </a:r>
            <a:endParaRPr lang="en-US" altLang="en-US" b="1" dirty="0">
              <a:latin typeface="Times New Roman" panose="02020603050405020304" pitchFamily="18" charset="0"/>
              <a:cs typeface="Times New Roman" panose="02020603050405020304" pitchFamily="18" charset="0"/>
            </a:endParaRPr>
          </a:p>
          <a:p>
            <a:pPr indent="457200">
              <a:lnSpc>
                <a:spcPct val="100000"/>
              </a:lnSpc>
              <a:buFont typeface="Wingdings" panose="05000000000000000000" pitchFamily="2" charset="2"/>
              <a:buNone/>
            </a:pPr>
            <a:r>
              <a:rPr lang="en-US" altLang="en-US" dirty="0">
                <a:latin typeface="Times New Roman" panose="02020603050405020304" pitchFamily="18" charset="0"/>
                <a:cs typeface="Times New Roman" panose="02020603050405020304" pitchFamily="18" charset="0"/>
              </a:rPr>
              <a:t>Integrated </a:t>
            </a:r>
            <a:r>
              <a:rPr lang="en-US" altLang="en-US" b="1" dirty="0">
                <a:latin typeface="Times New Roman" panose="02020603050405020304" pitchFamily="18" charset="0"/>
                <a:cs typeface="Times New Roman" panose="02020603050405020304" pitchFamily="18" charset="0"/>
              </a:rPr>
              <a:t>SignalR </a:t>
            </a:r>
            <a:r>
              <a:rPr lang="en-US" altLang="en-US" dirty="0">
                <a:latin typeface="Times New Roman" panose="02020603050405020304" pitchFamily="18" charset="0"/>
                <a:cs typeface="Times New Roman" panose="02020603050405020304" pitchFamily="18" charset="0"/>
              </a:rPr>
              <a:t>to support live bidding and chat features, allowing dynamic updates without page reloads.</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9"/>
          <p:cNvSpPr txBox="1"/>
          <p:nvPr/>
        </p:nvSpPr>
        <p:spPr>
          <a:xfrm>
            <a:off x="1055644" y="114042"/>
            <a:ext cx="9706460" cy="1038746"/>
          </a:xfrm>
          <a:prstGeom prst="rect">
            <a:avLst/>
          </a:prstGeom>
        </p:spPr>
        <p:txBody>
          <a:bodyPr lIns="0" tIns="0" rIns="0" bIns="0" rtlCol="0" anchor="t">
            <a:spAutoFit/>
          </a:bodyPr>
          <a:p>
            <a:pPr algn="ctr">
              <a:lnSpc>
                <a:spcPts val="8065"/>
              </a:lnSpc>
              <a:spcBef>
                <a:spcPct val="0"/>
              </a:spcBef>
            </a:pPr>
            <a:r>
              <a:rPr lang="en-US" sz="4400" dirty="0" smtClean="0">
                <a:latin typeface="Times New Roman" panose="02020603050405020304" pitchFamily="18" charset="0"/>
                <a:ea typeface="HK Modular"/>
                <a:cs typeface="Times New Roman" panose="02020603050405020304" pitchFamily="18" charset="0"/>
                <a:sym typeface="HK Modular"/>
              </a:rPr>
              <a:t>ARCHITECTURE DIAGRAM</a:t>
            </a:r>
            <a:endParaRPr lang="en-US" sz="4400" dirty="0">
              <a:latin typeface="Times New Roman" panose="02020603050405020304" pitchFamily="18" charset="0"/>
              <a:ea typeface="HK Modular"/>
              <a:cs typeface="Times New Roman" panose="02020603050405020304" pitchFamily="18" charset="0"/>
              <a:sym typeface="HK Modular"/>
            </a:endParaRPr>
          </a:p>
        </p:txBody>
      </p:sp>
      <p:pic>
        <p:nvPicPr>
          <p:cNvPr id="4" name="Picture 3"/>
          <p:cNvPicPr/>
          <p:nvPr/>
        </p:nvPicPr>
        <p:blipFill>
          <a:blip r:embed="rId1"/>
          <a:stretch>
            <a:fillRect/>
          </a:stretch>
        </p:blipFill>
        <p:spPr>
          <a:xfrm>
            <a:off x="1055370" y="1706880"/>
            <a:ext cx="10184130" cy="419989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9"/>
          <p:cNvSpPr txBox="1"/>
          <p:nvPr/>
        </p:nvSpPr>
        <p:spPr>
          <a:xfrm>
            <a:off x="1136667" y="97379"/>
            <a:ext cx="9706460" cy="911340"/>
          </a:xfrm>
          <a:prstGeom prst="rect">
            <a:avLst/>
          </a:prstGeom>
        </p:spPr>
        <p:txBody>
          <a:bodyPr lIns="0" tIns="0" rIns="0" bIns="0" rtlCol="0" anchor="t">
            <a:spAutoFit/>
          </a:bodyPr>
          <a:p>
            <a:pPr algn="ctr">
              <a:lnSpc>
                <a:spcPts val="8065"/>
              </a:lnSpc>
              <a:spcBef>
                <a:spcPct val="0"/>
              </a:spcBef>
            </a:pPr>
            <a:r>
              <a:rPr lang="en-US" sz="4400" dirty="0" smtClean="0">
                <a:latin typeface="Times New Roman" panose="02020603050405020304" pitchFamily="18" charset="0"/>
                <a:ea typeface="HK Modular"/>
                <a:cs typeface="Times New Roman" panose="02020603050405020304" pitchFamily="18" charset="0"/>
                <a:sym typeface="HK Modular"/>
              </a:rPr>
              <a:t>MODULES</a:t>
            </a:r>
            <a:endParaRPr lang="en-US" sz="4400" dirty="0">
              <a:latin typeface="Times New Roman" panose="02020603050405020304" pitchFamily="18" charset="0"/>
              <a:ea typeface="HK Modular"/>
              <a:cs typeface="Times New Roman" panose="02020603050405020304" pitchFamily="18" charset="0"/>
              <a:sym typeface="HK Modular"/>
            </a:endParaRPr>
          </a:p>
        </p:txBody>
      </p:sp>
      <p:sp>
        <p:nvSpPr>
          <p:cNvPr id="4" name="Rectangle 2"/>
          <p:cNvSpPr>
            <a:spLocks noChangeArrowheads="1"/>
          </p:cNvSpPr>
          <p:nvPr/>
        </p:nvSpPr>
        <p:spPr bwMode="auto">
          <a:xfrm>
            <a:off x="1136668" y="2022527"/>
            <a:ext cx="9932848" cy="369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p>
            <a:pPr marL="457200" indent="-457200">
              <a:lnSpc>
                <a:spcPct val="150000"/>
              </a:lnSpc>
              <a:buFont typeface="Wingdings" panose="05000000000000000000" pitchFamily="2" charset="2"/>
              <a:buChar char="Ø"/>
            </a:pPr>
            <a:r>
              <a:rPr lang="en-US" altLang="en-US" sz="2800" dirty="0">
                <a:latin typeface="Times New Roman" panose="02020603050405020304" pitchFamily="18" charset="0"/>
                <a:cs typeface="Times New Roman" panose="02020603050405020304" pitchFamily="18" charset="0"/>
              </a:rPr>
              <a:t>User Authentication Module</a:t>
            </a:r>
            <a:endParaRPr lang="en-US" altLang="en-US" sz="2800" dirty="0">
              <a:latin typeface="Times New Roman" panose="02020603050405020304" pitchFamily="18" charset="0"/>
              <a:cs typeface="Times New Roman" panose="02020603050405020304" pitchFamily="18" charset="0"/>
            </a:endParaRPr>
          </a:p>
          <a:p>
            <a:pPr marL="457200" indent="-457200">
              <a:lnSpc>
                <a:spcPct val="150000"/>
              </a:lnSpc>
              <a:buFont typeface="Wingdings" panose="05000000000000000000" pitchFamily="2" charset="2"/>
              <a:buChar char="Ø"/>
            </a:pPr>
            <a:r>
              <a:rPr lang="en-US" altLang="en-US" sz="2800" dirty="0" smtClean="0">
                <a:latin typeface="Times New Roman" panose="02020603050405020304" pitchFamily="18" charset="0"/>
                <a:cs typeface="Times New Roman" panose="02020603050405020304" pitchFamily="18" charset="0"/>
              </a:rPr>
              <a:t>Auction Listing Module</a:t>
            </a:r>
            <a:endParaRPr lang="en-US" altLang="en-US" sz="2800" dirty="0" smtClean="0">
              <a:latin typeface="Times New Roman" panose="02020603050405020304" pitchFamily="18" charset="0"/>
              <a:cs typeface="Times New Roman" panose="02020603050405020304" pitchFamily="18" charset="0"/>
            </a:endParaRPr>
          </a:p>
          <a:p>
            <a:pPr marL="457200" indent="-457200">
              <a:lnSpc>
                <a:spcPct val="150000"/>
              </a:lnSpc>
              <a:buFont typeface="Wingdings" panose="05000000000000000000" pitchFamily="2" charset="2"/>
              <a:buChar char="Ø"/>
            </a:pPr>
            <a:r>
              <a:rPr lang="en-US" altLang="en-US" sz="2800" dirty="0">
                <a:latin typeface="Times New Roman" panose="02020603050405020304" pitchFamily="18" charset="0"/>
                <a:cs typeface="Times New Roman" panose="02020603050405020304" pitchFamily="18" charset="0"/>
              </a:rPr>
              <a:t>Real-Time Bidding Module (SignalR)</a:t>
            </a:r>
            <a:endParaRPr lang="en-US" altLang="en-US" sz="2800" dirty="0">
              <a:latin typeface="Times New Roman" panose="02020603050405020304" pitchFamily="18" charset="0"/>
              <a:cs typeface="Times New Roman" panose="02020603050405020304" pitchFamily="18" charset="0"/>
            </a:endParaRPr>
          </a:p>
          <a:p>
            <a:pPr marL="457200" indent="-457200">
              <a:lnSpc>
                <a:spcPct val="150000"/>
              </a:lnSpc>
              <a:buFont typeface="Wingdings" panose="05000000000000000000" pitchFamily="2" charset="2"/>
              <a:buChar char="Ø"/>
            </a:pPr>
            <a:r>
              <a:rPr lang="en-US" altLang="en-US" sz="2800" dirty="0">
                <a:latin typeface="Times New Roman" panose="02020603050405020304" pitchFamily="18" charset="0"/>
                <a:cs typeface="Times New Roman" panose="02020603050405020304" pitchFamily="18" charset="0"/>
              </a:rPr>
              <a:t>Buyer Interaction Module</a:t>
            </a:r>
            <a:endParaRPr lang="en-US" altLang="en-US" sz="2800" dirty="0">
              <a:latin typeface="Times New Roman" panose="02020603050405020304" pitchFamily="18" charset="0"/>
              <a:cs typeface="Times New Roman" panose="02020603050405020304" pitchFamily="18" charset="0"/>
            </a:endParaRPr>
          </a:p>
          <a:p>
            <a:pPr marL="457200" indent="-457200">
              <a:lnSpc>
                <a:spcPct val="150000"/>
              </a:lnSpc>
              <a:buFont typeface="Wingdings" panose="05000000000000000000" pitchFamily="2" charset="2"/>
              <a:buChar char="Ø"/>
            </a:pPr>
            <a:r>
              <a:rPr lang="en-US" altLang="en-US" sz="2800" dirty="0">
                <a:latin typeface="Times New Roman" panose="02020603050405020304" pitchFamily="18" charset="0"/>
                <a:cs typeface="Times New Roman" panose="02020603050405020304" pitchFamily="18" charset="0"/>
              </a:rPr>
              <a:t>Seller Dashboard Module</a:t>
            </a:r>
            <a:endParaRPr lang="en-US" altLang="en-US" sz="2800" dirty="0">
              <a:latin typeface="Times New Roman" panose="02020603050405020304" pitchFamily="18" charset="0"/>
              <a:cs typeface="Times New Roman" panose="02020603050405020304" pitchFamily="18" charset="0"/>
            </a:endParaRPr>
          </a:p>
          <a:p>
            <a:pPr indent="0">
              <a:lnSpc>
                <a:spcPct val="150000"/>
              </a:lnSpc>
              <a:buFont typeface="Wingdings" panose="05000000000000000000" pitchFamily="2" charset="2"/>
              <a:buNone/>
            </a:pPr>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TextBox 9"/>
          <p:cNvSpPr txBox="1"/>
          <p:nvPr/>
        </p:nvSpPr>
        <p:spPr>
          <a:xfrm>
            <a:off x="1263988" y="2600299"/>
            <a:ext cx="9706460" cy="1038746"/>
          </a:xfrm>
          <a:prstGeom prst="rect">
            <a:avLst/>
          </a:prstGeom>
        </p:spPr>
        <p:txBody>
          <a:bodyPr lIns="0" tIns="0" rIns="0" bIns="0" rtlCol="0" anchor="t">
            <a:spAutoFit/>
          </a:bodyPr>
          <a:p>
            <a:pPr algn="ctr">
              <a:lnSpc>
                <a:spcPts val="8065"/>
              </a:lnSpc>
              <a:spcBef>
                <a:spcPct val="0"/>
              </a:spcBef>
            </a:pPr>
            <a:r>
              <a:rPr lang="en-US" sz="5760" dirty="0" smtClean="0">
                <a:latin typeface="Times New Roman" panose="02020603050405020304" pitchFamily="18" charset="0"/>
                <a:ea typeface="HK Modular"/>
                <a:cs typeface="Times New Roman" panose="02020603050405020304" pitchFamily="18" charset="0"/>
                <a:sym typeface="HK Modular"/>
              </a:rPr>
              <a:t> MODULE DESCRIPTION</a:t>
            </a:r>
            <a:endParaRPr lang="en-US" sz="5760" dirty="0">
              <a:latin typeface="Times New Roman" panose="02020603050405020304" pitchFamily="18" charset="0"/>
              <a:ea typeface="HK Modular"/>
              <a:cs typeface="Times New Roman" panose="02020603050405020304" pitchFamily="18" charset="0"/>
              <a:sym typeface="HK Modul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9"/>
          <p:cNvSpPr txBox="1"/>
          <p:nvPr/>
        </p:nvSpPr>
        <p:spPr>
          <a:xfrm>
            <a:off x="1214108" y="712178"/>
            <a:ext cx="9706460" cy="1015365"/>
          </a:xfrm>
          <a:prstGeom prst="rect">
            <a:avLst/>
          </a:prstGeom>
        </p:spPr>
        <p:txBody>
          <a:bodyPr lIns="0" tIns="0" rIns="0" bIns="0" rtlCol="0" anchor="t">
            <a:spAutoFit/>
          </a:bodyPr>
          <a:p>
            <a:pPr indent="0" algn="ctr">
              <a:lnSpc>
                <a:spcPct val="150000"/>
              </a:lnSpc>
              <a:buFont typeface="Wingdings" panose="05000000000000000000" pitchFamily="2" charset="2"/>
              <a:buNone/>
            </a:pPr>
            <a:r>
              <a:rPr lang="en-US" altLang="en-US" sz="4400" dirty="0">
                <a:latin typeface="Times New Roman" panose="02020603050405020304" pitchFamily="18" charset="0"/>
                <a:cs typeface="Times New Roman" panose="02020603050405020304" pitchFamily="18" charset="0"/>
                <a:sym typeface="+mn-ea"/>
              </a:rPr>
              <a:t>User Authentication Module</a:t>
            </a:r>
            <a:endParaRPr lang="en-US" sz="4400" dirty="0">
              <a:latin typeface="Times New Roman" panose="02020603050405020304" pitchFamily="18" charset="0"/>
              <a:ea typeface="HK Modular"/>
              <a:cs typeface="Times New Roman" panose="02020603050405020304" pitchFamily="18" charset="0"/>
              <a:sym typeface="HK Modular"/>
            </a:endParaRPr>
          </a:p>
        </p:txBody>
      </p:sp>
      <p:sp>
        <p:nvSpPr>
          <p:cNvPr id="4" name="Rectangle 2"/>
          <p:cNvSpPr>
            <a:spLocks noChangeArrowheads="1"/>
          </p:cNvSpPr>
          <p:nvPr/>
        </p:nvSpPr>
        <p:spPr bwMode="auto">
          <a:xfrm>
            <a:off x="986030" y="2208398"/>
            <a:ext cx="10162616" cy="378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p>
            <a:pPr marL="285750" indent="-285750">
              <a:lnSpc>
                <a:spcPct val="150000"/>
              </a:lnSpc>
              <a:buFont typeface="Wingdings" panose="05000000000000000000" pitchFamily="2" charset="2"/>
              <a:buChar char="Ø"/>
            </a:pPr>
            <a:r>
              <a:rPr lang="en-US" altLang="en-US" sz="2000" b="1" dirty="0">
                <a:latin typeface="Times New Roman" panose="02020603050405020304" pitchFamily="18" charset="0"/>
                <a:cs typeface="Times New Roman" panose="02020603050405020304" pitchFamily="18" charset="0"/>
              </a:rPr>
              <a:t>Role-Based Access Control:</a:t>
            </a:r>
            <a:r>
              <a:rPr lang="en-US" altLang="en-US" sz="2000" dirty="0">
                <a:latin typeface="Times New Roman" panose="02020603050405020304" pitchFamily="18" charset="0"/>
                <a:cs typeface="Times New Roman" panose="02020603050405020304" pitchFamily="18" charset="0"/>
              </a:rPr>
              <a:t> Differentiates between buyers and sellers, granting access only to relevant functionalities based on their role.</a:t>
            </a:r>
            <a:endParaRPr lang="en-US" altLang="en-US" sz="2000"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endParaRPr lang="en-US" altLang="en-US" sz="2000"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r>
              <a:rPr lang="en-US" altLang="en-US" sz="2000" b="1" dirty="0">
                <a:latin typeface="Times New Roman" panose="02020603050405020304" pitchFamily="18" charset="0"/>
                <a:cs typeface="Times New Roman" panose="02020603050405020304" pitchFamily="18" charset="0"/>
              </a:rPr>
              <a:t>Credential Verification:</a:t>
            </a:r>
            <a:r>
              <a:rPr lang="en-US" altLang="en-US" sz="2000" dirty="0">
                <a:latin typeface="Times New Roman" panose="02020603050405020304" pitchFamily="18" charset="0"/>
                <a:cs typeface="Times New Roman" panose="02020603050405020304" pitchFamily="18" charset="0"/>
              </a:rPr>
              <a:t> Uses hardcoded login credentials to verify user identity before allowing access to the auction or submission pages.</a:t>
            </a:r>
            <a:endParaRPr lang="en-US" altLang="en-US" sz="2000"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endParaRPr lang="en-US" altLang="en-US" sz="2000"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r>
              <a:rPr lang="en-US" altLang="en-US" sz="2000" b="1" dirty="0">
                <a:latin typeface="Times New Roman" panose="02020603050405020304" pitchFamily="18" charset="0"/>
                <a:cs typeface="Times New Roman" panose="02020603050405020304" pitchFamily="18" charset="0"/>
              </a:rPr>
              <a:t>Secure Navigation Flow:</a:t>
            </a:r>
            <a:r>
              <a:rPr lang="en-US" altLang="en-US" sz="2000" dirty="0">
                <a:latin typeface="Times New Roman" panose="02020603050405020304" pitchFamily="18" charset="0"/>
                <a:cs typeface="Times New Roman" panose="02020603050405020304" pitchFamily="18" charset="0"/>
              </a:rPr>
              <a:t> Redirects unauthorized users to the login page and ensures only authenticated users can access or interact with the system.</a:t>
            </a: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9"/>
          <p:cNvSpPr txBox="1"/>
          <p:nvPr/>
        </p:nvSpPr>
        <p:spPr>
          <a:xfrm>
            <a:off x="1214108" y="712178"/>
            <a:ext cx="9706460" cy="1015365"/>
          </a:xfrm>
          <a:prstGeom prst="rect">
            <a:avLst/>
          </a:prstGeom>
        </p:spPr>
        <p:txBody>
          <a:bodyPr lIns="0" tIns="0" rIns="0" bIns="0" rtlCol="0" anchor="t">
            <a:spAutoFit/>
          </a:bodyPr>
          <a:p>
            <a:pPr indent="0" algn="ctr">
              <a:lnSpc>
                <a:spcPct val="150000"/>
              </a:lnSpc>
              <a:buFont typeface="Wingdings" panose="05000000000000000000" pitchFamily="2" charset="2"/>
              <a:buNone/>
            </a:pPr>
            <a:r>
              <a:rPr lang="en-US" altLang="en-US" sz="4400" dirty="0">
                <a:latin typeface="Times New Roman" panose="02020603050405020304" pitchFamily="18" charset="0"/>
                <a:ea typeface="HK Modular"/>
                <a:cs typeface="Times New Roman" panose="02020603050405020304" pitchFamily="18" charset="0"/>
                <a:sym typeface="HK Modular"/>
              </a:rPr>
              <a:t>Auction Listing Module</a:t>
            </a:r>
            <a:endParaRPr lang="en-US" altLang="en-US" sz="4400" dirty="0">
              <a:latin typeface="Times New Roman" panose="02020603050405020304" pitchFamily="18" charset="0"/>
              <a:ea typeface="HK Modular"/>
              <a:cs typeface="Times New Roman" panose="02020603050405020304" pitchFamily="18" charset="0"/>
              <a:sym typeface="HK Modular"/>
            </a:endParaRPr>
          </a:p>
        </p:txBody>
      </p:sp>
      <p:sp>
        <p:nvSpPr>
          <p:cNvPr id="4" name="Rectangle 2"/>
          <p:cNvSpPr>
            <a:spLocks noChangeArrowheads="1"/>
          </p:cNvSpPr>
          <p:nvPr/>
        </p:nvSpPr>
        <p:spPr bwMode="auto">
          <a:xfrm>
            <a:off x="986030" y="2208398"/>
            <a:ext cx="10162616" cy="378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p>
            <a:pPr marL="285750" indent="-285750">
              <a:lnSpc>
                <a:spcPct val="150000"/>
              </a:lnSpc>
              <a:buFont typeface="Wingdings" panose="05000000000000000000" pitchFamily="2" charset="2"/>
              <a:buChar char="Ø"/>
            </a:pPr>
            <a:r>
              <a:rPr lang="en-US" altLang="en-US" sz="2000" b="1" dirty="0">
                <a:latin typeface="Times New Roman" panose="02020603050405020304" pitchFamily="18" charset="0"/>
                <a:cs typeface="Times New Roman" panose="02020603050405020304" pitchFamily="18" charset="0"/>
              </a:rPr>
              <a:t>Displays Active Auctions:</a:t>
            </a:r>
            <a:r>
              <a:rPr lang="en-US" altLang="en-US" sz="2000" dirty="0">
                <a:latin typeface="Times New Roman" panose="02020603050405020304" pitchFamily="18" charset="0"/>
                <a:cs typeface="Times New Roman" panose="02020603050405020304" pitchFamily="18" charset="0"/>
              </a:rPr>
              <a:t> Shows all currently listed artworks or items with details like title, image, description, and starting price.</a:t>
            </a:r>
            <a:endParaRPr lang="en-US" altLang="en-US" sz="2000"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endParaRPr lang="en-US" altLang="en-US" sz="2000"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r>
              <a:rPr lang="en-US" altLang="en-US" sz="2000" b="1" dirty="0">
                <a:latin typeface="Times New Roman" panose="02020603050405020304" pitchFamily="18" charset="0"/>
                <a:cs typeface="Times New Roman" panose="02020603050405020304" pitchFamily="18" charset="0"/>
              </a:rPr>
              <a:t>User-Friendly Layout:</a:t>
            </a:r>
            <a:r>
              <a:rPr lang="en-US" altLang="en-US" sz="2000" dirty="0">
                <a:latin typeface="Times New Roman" panose="02020603050405020304" pitchFamily="18" charset="0"/>
                <a:cs typeface="Times New Roman" panose="02020603050405020304" pitchFamily="18" charset="0"/>
              </a:rPr>
              <a:t> Organizes listings in a clear and responsive format for easy browsing by buyers.</a:t>
            </a:r>
            <a:endParaRPr lang="en-US" altLang="en-US" sz="2000"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endParaRPr lang="en-US" altLang="en-US" sz="2000"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r>
              <a:rPr lang="en-US" altLang="en-US" sz="2000" b="1" dirty="0">
                <a:latin typeface="Times New Roman" panose="02020603050405020304" pitchFamily="18" charset="0"/>
                <a:cs typeface="Times New Roman" panose="02020603050405020304" pitchFamily="18" charset="0"/>
              </a:rPr>
              <a:t>Link to Bidding Interface:</a:t>
            </a:r>
            <a:r>
              <a:rPr lang="en-US" altLang="en-US" sz="2000" dirty="0">
                <a:latin typeface="Times New Roman" panose="02020603050405020304" pitchFamily="18" charset="0"/>
                <a:cs typeface="Times New Roman" panose="02020603050405020304" pitchFamily="18" charset="0"/>
              </a:rPr>
              <a:t> Provides access to the live bidding page where interested buyers can place bids in real-time.</a:t>
            </a: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9"/>
          <p:cNvSpPr txBox="1"/>
          <p:nvPr/>
        </p:nvSpPr>
        <p:spPr>
          <a:xfrm>
            <a:off x="1214108" y="712178"/>
            <a:ext cx="9706460" cy="1015365"/>
          </a:xfrm>
          <a:prstGeom prst="rect">
            <a:avLst/>
          </a:prstGeom>
        </p:spPr>
        <p:txBody>
          <a:bodyPr lIns="0" tIns="0" rIns="0" bIns="0" rtlCol="0" anchor="t">
            <a:spAutoFit/>
          </a:bodyPr>
          <a:p>
            <a:pPr indent="0" algn="ctr">
              <a:lnSpc>
                <a:spcPct val="150000"/>
              </a:lnSpc>
              <a:buFont typeface="Wingdings" panose="05000000000000000000" pitchFamily="2" charset="2"/>
              <a:buNone/>
            </a:pPr>
            <a:r>
              <a:rPr lang="en-US" altLang="en-US" sz="4400" dirty="0">
                <a:latin typeface="Times New Roman" panose="02020603050405020304" pitchFamily="18" charset="0"/>
                <a:ea typeface="HK Modular"/>
                <a:cs typeface="Times New Roman" panose="02020603050405020304" pitchFamily="18" charset="0"/>
                <a:sym typeface="HK Modular"/>
              </a:rPr>
              <a:t>Real-Time Bidding Module (SignalR)</a:t>
            </a:r>
            <a:endParaRPr lang="en-US" altLang="en-US" sz="4400" dirty="0">
              <a:latin typeface="Times New Roman" panose="02020603050405020304" pitchFamily="18" charset="0"/>
              <a:ea typeface="HK Modular"/>
              <a:cs typeface="Times New Roman" panose="02020603050405020304" pitchFamily="18" charset="0"/>
              <a:sym typeface="HK Modular"/>
            </a:endParaRPr>
          </a:p>
        </p:txBody>
      </p:sp>
      <p:sp>
        <p:nvSpPr>
          <p:cNvPr id="4" name="Rectangle 2"/>
          <p:cNvSpPr>
            <a:spLocks noChangeArrowheads="1"/>
          </p:cNvSpPr>
          <p:nvPr/>
        </p:nvSpPr>
        <p:spPr bwMode="auto">
          <a:xfrm>
            <a:off x="986030" y="2208398"/>
            <a:ext cx="10162616" cy="378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p>
            <a:pPr marL="285750" indent="-285750">
              <a:lnSpc>
                <a:spcPct val="150000"/>
              </a:lnSpc>
              <a:buFont typeface="Wingdings" panose="05000000000000000000" pitchFamily="2" charset="2"/>
              <a:buChar char="Ø"/>
            </a:pPr>
            <a:r>
              <a:rPr lang="en-US" altLang="en-US" sz="2000" b="1" dirty="0">
                <a:latin typeface="Times New Roman" panose="02020603050405020304" pitchFamily="18" charset="0"/>
                <a:cs typeface="Times New Roman" panose="02020603050405020304" pitchFamily="18" charset="0"/>
              </a:rPr>
              <a:t>Live Bid Updates:</a:t>
            </a:r>
            <a:r>
              <a:rPr lang="en-US" altLang="en-US" sz="2000" dirty="0">
                <a:latin typeface="Times New Roman" panose="02020603050405020304" pitchFamily="18" charset="0"/>
                <a:cs typeface="Times New Roman" panose="02020603050405020304" pitchFamily="18" charset="0"/>
              </a:rPr>
              <a:t> Enables real-time broadcasting of bid changes to all connected users without refreshing the page.</a:t>
            </a:r>
            <a:endParaRPr lang="en-US" altLang="en-US" sz="2000"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endParaRPr lang="en-US" altLang="en-US" sz="2000"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r>
              <a:rPr lang="en-US" altLang="en-US" sz="2000" b="1" dirty="0">
                <a:latin typeface="Times New Roman" panose="02020603050405020304" pitchFamily="18" charset="0"/>
                <a:cs typeface="Times New Roman" panose="02020603050405020304" pitchFamily="18" charset="0"/>
              </a:rPr>
              <a:t>Interactive Communication:</a:t>
            </a:r>
            <a:r>
              <a:rPr lang="en-US" altLang="en-US" sz="2000" dirty="0">
                <a:latin typeface="Times New Roman" panose="02020603050405020304" pitchFamily="18" charset="0"/>
                <a:cs typeface="Times New Roman" panose="02020603050405020304" pitchFamily="18" charset="0"/>
              </a:rPr>
              <a:t> Allows buyers and sellers to interact instantly during the auction through live chat or messages.</a:t>
            </a:r>
            <a:endParaRPr lang="en-US" altLang="en-US" sz="2000"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endParaRPr lang="en-US" altLang="en-US" sz="2000"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r>
              <a:rPr lang="en-US" altLang="en-US" sz="2000" b="1" dirty="0">
                <a:latin typeface="Times New Roman" panose="02020603050405020304" pitchFamily="18" charset="0"/>
                <a:cs typeface="Times New Roman" panose="02020603050405020304" pitchFamily="18" charset="0"/>
              </a:rPr>
              <a:t>Smooth Bidding Experience:</a:t>
            </a:r>
            <a:r>
              <a:rPr lang="en-US" altLang="en-US" sz="2000" dirty="0">
                <a:latin typeface="Times New Roman" panose="02020603050405020304" pitchFamily="18" charset="0"/>
                <a:cs typeface="Times New Roman" panose="02020603050405020304" pitchFamily="18" charset="0"/>
              </a:rPr>
              <a:t> Ensures fast and synchronized updates, making the auction feel dynamic and engaging for all participants.</a:t>
            </a: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9"/>
          <p:cNvSpPr txBox="1"/>
          <p:nvPr/>
        </p:nvSpPr>
        <p:spPr>
          <a:xfrm>
            <a:off x="1214108" y="712178"/>
            <a:ext cx="9706460" cy="1015365"/>
          </a:xfrm>
          <a:prstGeom prst="rect">
            <a:avLst/>
          </a:prstGeom>
        </p:spPr>
        <p:txBody>
          <a:bodyPr lIns="0" tIns="0" rIns="0" bIns="0" rtlCol="0" anchor="t">
            <a:spAutoFit/>
          </a:bodyPr>
          <a:p>
            <a:pPr indent="0" algn="ctr">
              <a:lnSpc>
                <a:spcPct val="150000"/>
              </a:lnSpc>
              <a:buFont typeface="Wingdings" panose="05000000000000000000" pitchFamily="2" charset="2"/>
              <a:buNone/>
            </a:pPr>
            <a:r>
              <a:rPr lang="en-US" altLang="en-US" sz="4400" dirty="0">
                <a:latin typeface="Times New Roman" panose="02020603050405020304" pitchFamily="18" charset="0"/>
                <a:ea typeface="HK Modular"/>
                <a:cs typeface="Times New Roman" panose="02020603050405020304" pitchFamily="18" charset="0"/>
                <a:sym typeface="HK Modular"/>
              </a:rPr>
              <a:t>Buyer Interaction Module</a:t>
            </a:r>
            <a:endParaRPr lang="en-US" altLang="en-US" sz="4400" dirty="0">
              <a:latin typeface="Times New Roman" panose="02020603050405020304" pitchFamily="18" charset="0"/>
              <a:ea typeface="HK Modular"/>
              <a:cs typeface="Times New Roman" panose="02020603050405020304" pitchFamily="18" charset="0"/>
              <a:sym typeface="HK Modular"/>
            </a:endParaRPr>
          </a:p>
        </p:txBody>
      </p:sp>
      <p:sp>
        <p:nvSpPr>
          <p:cNvPr id="4" name="Rectangle 2"/>
          <p:cNvSpPr>
            <a:spLocks noChangeArrowheads="1"/>
          </p:cNvSpPr>
          <p:nvPr/>
        </p:nvSpPr>
        <p:spPr bwMode="auto">
          <a:xfrm>
            <a:off x="986030" y="2208398"/>
            <a:ext cx="10162616" cy="378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p>
            <a:pPr marL="285750" indent="-285750">
              <a:lnSpc>
                <a:spcPct val="150000"/>
              </a:lnSpc>
              <a:buFont typeface="Wingdings" panose="05000000000000000000" pitchFamily="2" charset="2"/>
              <a:buChar char="Ø"/>
            </a:pPr>
            <a:r>
              <a:rPr lang="en-US" altLang="en-US" sz="2000" b="1" dirty="0">
                <a:latin typeface="Times New Roman" panose="02020603050405020304" pitchFamily="18" charset="0"/>
                <a:cs typeface="Times New Roman" panose="02020603050405020304" pitchFamily="18" charset="0"/>
              </a:rPr>
              <a:t>Interest Expression Feature:</a:t>
            </a:r>
            <a:r>
              <a:rPr lang="en-US" altLang="en-US" sz="2000" dirty="0">
                <a:latin typeface="Times New Roman" panose="02020603050405020304" pitchFamily="18" charset="0"/>
                <a:cs typeface="Times New Roman" panose="02020603050405020304" pitchFamily="18" charset="0"/>
              </a:rPr>
              <a:t> Allows buyers to click an "Interested" button to show their intent to participate in an auction.</a:t>
            </a:r>
            <a:endParaRPr lang="en-US" altLang="en-US" sz="2000"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endParaRPr lang="en-US" altLang="en-US" sz="2000"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r>
              <a:rPr lang="en-US" altLang="en-US" sz="2000" b="1" dirty="0">
                <a:latin typeface="Times New Roman" panose="02020603050405020304" pitchFamily="18" charset="0"/>
                <a:cs typeface="Times New Roman" panose="02020603050405020304" pitchFamily="18" charset="0"/>
              </a:rPr>
              <a:t>Buyer Verification Process:</a:t>
            </a:r>
            <a:r>
              <a:rPr lang="en-US" altLang="en-US" sz="2000" dirty="0">
                <a:latin typeface="Times New Roman" panose="02020603050405020304" pitchFamily="18" charset="0"/>
                <a:cs typeface="Times New Roman" panose="02020603050405020304" pitchFamily="18" charset="0"/>
              </a:rPr>
              <a:t> Redirects buyers to a login page with hardcoded credentials for identity confirmation before joining the auction.</a:t>
            </a:r>
            <a:endParaRPr lang="en-US" altLang="en-US" sz="2000"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endParaRPr lang="en-US" altLang="en-US" sz="2000"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r>
              <a:rPr lang="en-US" altLang="en-US" sz="2000" b="1" dirty="0">
                <a:latin typeface="Times New Roman" panose="02020603050405020304" pitchFamily="18" charset="0"/>
                <a:cs typeface="Times New Roman" panose="02020603050405020304" pitchFamily="18" charset="0"/>
              </a:rPr>
              <a:t>Access to Marketplace:</a:t>
            </a:r>
            <a:r>
              <a:rPr lang="en-US" altLang="en-US" sz="2000" dirty="0">
                <a:latin typeface="Times New Roman" panose="02020603050405020304" pitchFamily="18" charset="0"/>
                <a:cs typeface="Times New Roman" panose="02020603050405020304" pitchFamily="18" charset="0"/>
              </a:rPr>
              <a:t> Grants verified buyers access to the bidding interface and seller interactions within the marketplace.</a:t>
            </a: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9"/>
          <p:cNvSpPr txBox="1"/>
          <p:nvPr/>
        </p:nvSpPr>
        <p:spPr>
          <a:xfrm>
            <a:off x="1214108" y="712178"/>
            <a:ext cx="9706460" cy="1015365"/>
          </a:xfrm>
          <a:prstGeom prst="rect">
            <a:avLst/>
          </a:prstGeom>
        </p:spPr>
        <p:txBody>
          <a:bodyPr lIns="0" tIns="0" rIns="0" bIns="0" rtlCol="0" anchor="t">
            <a:spAutoFit/>
          </a:bodyPr>
          <a:p>
            <a:pPr indent="0" algn="ctr">
              <a:lnSpc>
                <a:spcPct val="150000"/>
              </a:lnSpc>
              <a:buFont typeface="Wingdings" panose="05000000000000000000" pitchFamily="2" charset="2"/>
              <a:buNone/>
            </a:pPr>
            <a:r>
              <a:rPr lang="en-US" altLang="en-US" sz="4400" dirty="0">
                <a:latin typeface="Times New Roman" panose="02020603050405020304" pitchFamily="18" charset="0"/>
                <a:ea typeface="HK Modular"/>
                <a:cs typeface="Times New Roman" panose="02020603050405020304" pitchFamily="18" charset="0"/>
                <a:sym typeface="HK Modular"/>
              </a:rPr>
              <a:t>Seller Dashboard Module</a:t>
            </a:r>
            <a:endParaRPr lang="en-US" altLang="en-US" sz="4400" dirty="0">
              <a:latin typeface="Times New Roman" panose="02020603050405020304" pitchFamily="18" charset="0"/>
              <a:ea typeface="HK Modular"/>
              <a:cs typeface="Times New Roman" panose="02020603050405020304" pitchFamily="18" charset="0"/>
              <a:sym typeface="HK Modular"/>
            </a:endParaRPr>
          </a:p>
        </p:txBody>
      </p:sp>
      <p:sp>
        <p:nvSpPr>
          <p:cNvPr id="4" name="Rectangle 2"/>
          <p:cNvSpPr>
            <a:spLocks noChangeArrowheads="1"/>
          </p:cNvSpPr>
          <p:nvPr/>
        </p:nvSpPr>
        <p:spPr bwMode="auto">
          <a:xfrm>
            <a:off x="986030" y="2208398"/>
            <a:ext cx="10162616" cy="378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p>
            <a:pPr marL="285750" indent="-285750">
              <a:lnSpc>
                <a:spcPct val="150000"/>
              </a:lnSpc>
              <a:buFont typeface="Wingdings" panose="05000000000000000000" pitchFamily="2" charset="2"/>
              <a:buChar char="Ø"/>
            </a:pPr>
            <a:r>
              <a:rPr lang="en-US" altLang="en-US" sz="2000" b="1" dirty="0">
                <a:latin typeface="Times New Roman" panose="02020603050405020304" pitchFamily="18" charset="0"/>
                <a:cs typeface="Times New Roman" panose="02020603050405020304" pitchFamily="18" charset="0"/>
              </a:rPr>
              <a:t>Listing Management: </a:t>
            </a:r>
            <a:r>
              <a:rPr lang="en-US" altLang="en-US" sz="2000" dirty="0">
                <a:latin typeface="Times New Roman" panose="02020603050405020304" pitchFamily="18" charset="0"/>
                <a:cs typeface="Times New Roman" panose="02020603050405020304" pitchFamily="18" charset="0"/>
              </a:rPr>
              <a:t>Allows sellers to view and manage their active auction listings, including current bids and auction status.</a:t>
            </a:r>
            <a:endParaRPr lang="en-US" altLang="en-US" sz="2000"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endParaRPr lang="en-US" altLang="en-US" sz="2000"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r>
              <a:rPr lang="en-US" altLang="en-US" sz="2000" b="1" dirty="0">
                <a:latin typeface="Times New Roman" panose="02020603050405020304" pitchFamily="18" charset="0"/>
                <a:cs typeface="Times New Roman" panose="02020603050405020304" pitchFamily="18" charset="0"/>
              </a:rPr>
              <a:t>Bid Monitoring:</a:t>
            </a:r>
            <a:r>
              <a:rPr lang="en-US" altLang="en-US" sz="2000" dirty="0">
                <a:latin typeface="Times New Roman" panose="02020603050405020304" pitchFamily="18" charset="0"/>
                <a:cs typeface="Times New Roman" panose="02020603050405020304" pitchFamily="18" charset="0"/>
              </a:rPr>
              <a:t> Provides real-time updates on bids placed by buyers on the seller's listed items.</a:t>
            </a:r>
            <a:endParaRPr lang="en-US" altLang="en-US" sz="2000"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endParaRPr lang="en-US" altLang="en-US" sz="2000"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r>
              <a:rPr lang="en-US" altLang="en-US" sz="2000" b="1" dirty="0">
                <a:latin typeface="Times New Roman" panose="02020603050405020304" pitchFamily="18" charset="0"/>
                <a:cs typeface="Times New Roman" panose="02020603050405020304" pitchFamily="18" charset="0"/>
              </a:rPr>
              <a:t>Auction Control:</a:t>
            </a:r>
            <a:r>
              <a:rPr lang="en-US" altLang="en-US" sz="2000" dirty="0">
                <a:latin typeface="Times New Roman" panose="02020603050405020304" pitchFamily="18" charset="0"/>
                <a:cs typeface="Times New Roman" panose="02020603050405020304" pitchFamily="18" charset="0"/>
              </a:rPr>
              <a:t> Enables sellers to edit or remove their auction listings before the auction ends, ensuring flexibility in managing their products.</a:t>
            </a: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9"/>
          <p:cNvSpPr txBox="1"/>
          <p:nvPr/>
        </p:nvSpPr>
        <p:spPr>
          <a:xfrm>
            <a:off x="1214108" y="712178"/>
            <a:ext cx="9706460" cy="1015365"/>
          </a:xfrm>
          <a:prstGeom prst="rect">
            <a:avLst/>
          </a:prstGeom>
        </p:spPr>
        <p:txBody>
          <a:bodyPr lIns="0" tIns="0" rIns="0" bIns="0" rtlCol="0" anchor="t">
            <a:spAutoFit/>
          </a:bodyPr>
          <a:p>
            <a:pPr indent="0" algn="ctr">
              <a:lnSpc>
                <a:spcPct val="150000"/>
              </a:lnSpc>
              <a:buFont typeface="Wingdings" panose="05000000000000000000" pitchFamily="2" charset="2"/>
              <a:buNone/>
            </a:pPr>
            <a:r>
              <a:rPr lang="en-US" altLang="en-US" sz="4400" dirty="0">
                <a:latin typeface="Times New Roman" panose="02020603050405020304" pitchFamily="18" charset="0"/>
                <a:ea typeface="HK Modular"/>
                <a:cs typeface="Times New Roman" panose="02020603050405020304" pitchFamily="18" charset="0"/>
                <a:sym typeface="HK Modular"/>
              </a:rPr>
              <a:t> Database Management</a:t>
            </a:r>
            <a:endParaRPr lang="en-US" altLang="en-US" sz="4400" dirty="0">
              <a:latin typeface="Times New Roman" panose="02020603050405020304" pitchFamily="18" charset="0"/>
              <a:ea typeface="HK Modular"/>
              <a:cs typeface="Times New Roman" panose="02020603050405020304" pitchFamily="18" charset="0"/>
              <a:sym typeface="HK Modular"/>
            </a:endParaRPr>
          </a:p>
        </p:txBody>
      </p:sp>
      <p:sp>
        <p:nvSpPr>
          <p:cNvPr id="4" name="Rectangle 2"/>
          <p:cNvSpPr>
            <a:spLocks noChangeArrowheads="1"/>
          </p:cNvSpPr>
          <p:nvPr/>
        </p:nvSpPr>
        <p:spPr bwMode="auto">
          <a:xfrm>
            <a:off x="986030" y="2208398"/>
            <a:ext cx="10162616" cy="378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p>
            <a:pPr marL="285750" indent="-285750">
              <a:lnSpc>
                <a:spcPct val="150000"/>
              </a:lnSpc>
              <a:buFont typeface="Wingdings" panose="05000000000000000000" pitchFamily="2" charset="2"/>
              <a:buChar char="Ø"/>
            </a:pPr>
            <a:r>
              <a:rPr lang="en-US" altLang="en-US" sz="2000" b="1" dirty="0">
                <a:latin typeface="Times New Roman" panose="02020603050405020304" pitchFamily="18" charset="0"/>
                <a:cs typeface="Times New Roman" panose="02020603050405020304" pitchFamily="18" charset="0"/>
              </a:rPr>
              <a:t>Data Storage:</a:t>
            </a:r>
            <a:r>
              <a:rPr lang="en-US" altLang="en-US" sz="2000" dirty="0">
                <a:latin typeface="Times New Roman" panose="02020603050405020304" pitchFamily="18" charset="0"/>
                <a:cs typeface="Times New Roman" panose="02020603050405020304" pitchFamily="18" charset="0"/>
              </a:rPr>
              <a:t> Stores user information, auction listings, bids, and transaction history in a secure SQL Server database.</a:t>
            </a:r>
            <a:endParaRPr lang="en-US" altLang="en-US" sz="2000"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endParaRPr lang="en-US" altLang="en-US" sz="2000"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r>
              <a:rPr lang="en-US" altLang="en-US" sz="2000" b="1" dirty="0">
                <a:latin typeface="Times New Roman" panose="02020603050405020304" pitchFamily="18" charset="0"/>
                <a:cs typeface="Times New Roman" panose="02020603050405020304" pitchFamily="18" charset="0"/>
              </a:rPr>
              <a:t>Persistent Data:</a:t>
            </a:r>
            <a:r>
              <a:rPr lang="en-US" altLang="en-US" sz="2000" dirty="0">
                <a:latin typeface="Times New Roman" panose="02020603050405020304" pitchFamily="18" charset="0"/>
                <a:cs typeface="Times New Roman" panose="02020603050405020304" pitchFamily="18" charset="0"/>
              </a:rPr>
              <a:t> Ensures that auction data, such as item details and</a:t>
            </a:r>
            <a:r>
              <a:rPr lang="en-IN" altLang="en-US" sz="2000" dirty="0">
                <a:latin typeface="Times New Roman" panose="02020603050405020304" pitchFamily="18" charset="0"/>
                <a:cs typeface="Times New Roman" panose="02020603050405020304" pitchFamily="18" charset="0"/>
              </a:rPr>
              <a:t> submit</a:t>
            </a:r>
            <a:r>
              <a:rPr lang="en-US" altLang="en-US" sz="2000" dirty="0">
                <a:latin typeface="Times New Roman" panose="02020603050405020304" pitchFamily="18" charset="0"/>
                <a:cs typeface="Times New Roman" panose="02020603050405020304" pitchFamily="18" charset="0"/>
              </a:rPr>
              <a:t> bid</a:t>
            </a:r>
            <a:r>
              <a:rPr lang="en-IN" altLang="en-US" sz="2000" dirty="0">
                <a:latin typeface="Times New Roman" panose="02020603050405020304" pitchFamily="18" charset="0"/>
                <a:cs typeface="Times New Roman" panose="02020603050405020304" pitchFamily="18" charset="0"/>
              </a:rPr>
              <a:t>s</a:t>
            </a:r>
            <a:r>
              <a:rPr lang="en-US" altLang="en-US" sz="2000" dirty="0">
                <a:latin typeface="Times New Roman" panose="02020603050405020304" pitchFamily="18" charset="0"/>
                <a:cs typeface="Times New Roman" panose="02020603050405020304" pitchFamily="18" charset="0"/>
              </a:rPr>
              <a:t>, are retained across sessions and system restarts.</a:t>
            </a:r>
            <a:endParaRPr lang="en-US" altLang="en-US" sz="2000"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endParaRPr lang="en-US" altLang="en-US" sz="2000"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r>
              <a:rPr lang="en-US" altLang="en-US" sz="2000" b="1" dirty="0">
                <a:latin typeface="Times New Roman" panose="02020603050405020304" pitchFamily="18" charset="0"/>
                <a:cs typeface="Times New Roman" panose="02020603050405020304" pitchFamily="18" charset="0"/>
              </a:rPr>
              <a:t>Efficient Queries:</a:t>
            </a:r>
            <a:r>
              <a:rPr lang="en-US" altLang="en-US" sz="2000" dirty="0">
                <a:latin typeface="Times New Roman" panose="02020603050405020304" pitchFamily="18" charset="0"/>
                <a:cs typeface="Times New Roman" panose="02020603050405020304" pitchFamily="18" charset="0"/>
              </a:rPr>
              <a:t> Implements optimized queries for fast retrieval of active listings, user information, and bidding details to ensure smooth performance.</a:t>
            </a: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p:nvPr/>
        </p:nvPicPr>
        <p:blipFill>
          <a:blip r:embed="rId1"/>
          <a:stretch>
            <a:fillRect/>
          </a:stretch>
        </p:blipFill>
        <p:spPr>
          <a:xfrm>
            <a:off x="2124710" y="1685925"/>
            <a:ext cx="7942580" cy="4625975"/>
          </a:xfrm>
          <a:prstGeom prst="rect">
            <a:avLst/>
          </a:prstGeom>
        </p:spPr>
      </p:pic>
      <p:sp>
        <p:nvSpPr>
          <p:cNvPr id="3" name="Text Box 2"/>
          <p:cNvSpPr txBox="1"/>
          <p:nvPr/>
        </p:nvSpPr>
        <p:spPr>
          <a:xfrm>
            <a:off x="0" y="629920"/>
            <a:ext cx="12191365" cy="706755"/>
          </a:xfrm>
          <a:prstGeom prst="rect">
            <a:avLst/>
          </a:prstGeom>
          <a:noFill/>
        </p:spPr>
        <p:txBody>
          <a:bodyPr wrap="square" rtlCol="0" anchor="t">
            <a:spAutoFit/>
          </a:bodyPr>
          <a:p>
            <a:pPr algn="ctr"/>
            <a:r>
              <a:rPr lang="en-US" sz="4000" b="1" dirty="0">
                <a:latin typeface="Times New Roman" panose="02020603050405020304" pitchFamily="18" charset="0"/>
                <a:ea typeface="Poppins Bold"/>
                <a:cs typeface="Times New Roman" panose="02020603050405020304" pitchFamily="18" charset="0"/>
                <a:sym typeface="Poppins Bold"/>
              </a:rPr>
              <a:t>DATABASE DESIGN</a:t>
            </a:r>
            <a:endParaRPr lang="en-US" sz="4000" b="1" dirty="0">
              <a:latin typeface="Times New Roman" panose="02020603050405020304" pitchFamily="18" charset="0"/>
              <a:ea typeface="Poppins Bold"/>
              <a:cs typeface="Times New Roman" panose="02020603050405020304" pitchFamily="18" charset="0"/>
              <a:sym typeface="Poppins Bo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9"/>
          <p:cNvSpPr txBox="1"/>
          <p:nvPr/>
        </p:nvSpPr>
        <p:spPr>
          <a:xfrm>
            <a:off x="1214108" y="2395035"/>
            <a:ext cx="9706460" cy="1033780"/>
          </a:xfrm>
          <a:prstGeom prst="rect">
            <a:avLst/>
          </a:prstGeom>
        </p:spPr>
        <p:txBody>
          <a:bodyPr lIns="0" tIns="0" rIns="0" bIns="0" rtlCol="0" anchor="t">
            <a:spAutoFit/>
          </a:bodyPr>
          <a:p>
            <a:pPr algn="ctr">
              <a:lnSpc>
                <a:spcPts val="8065"/>
              </a:lnSpc>
              <a:spcBef>
                <a:spcPct val="0"/>
              </a:spcBef>
            </a:pPr>
            <a:r>
              <a:rPr lang="en-IN" altLang="en-US" sz="4400" dirty="0" smtClean="0">
                <a:latin typeface="Times New Roman" panose="02020603050405020304" pitchFamily="18" charset="0"/>
                <a:ea typeface="HK Modular"/>
                <a:cs typeface="Times New Roman" panose="02020603050405020304" pitchFamily="18" charset="0"/>
                <a:sym typeface="HK Modular"/>
              </a:rPr>
              <a:t>SNAPSHOTS</a:t>
            </a:r>
            <a:endParaRPr lang="en-IN" altLang="en-US" sz="4400" dirty="0" smtClean="0">
              <a:latin typeface="Times New Roman" panose="02020603050405020304" pitchFamily="18" charset="0"/>
              <a:ea typeface="HK Modular"/>
              <a:cs typeface="Times New Roman" panose="02020603050405020304" pitchFamily="18" charset="0"/>
              <a:sym typeface="HK Modul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ELLER-ARTWORK-LIST"/>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ELLER ADD ART WORK"/>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BUY ART WORK AUCTION PAGE"/>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35" y="651510"/>
            <a:ext cx="12191365" cy="1322070"/>
          </a:xfrm>
          <a:prstGeom prst="rect">
            <a:avLst/>
          </a:prstGeom>
          <a:noFill/>
        </p:spPr>
        <p:txBody>
          <a:bodyPr wrap="square" rtlCol="0" anchor="t">
            <a:spAutoFit/>
          </a:bodyPr>
          <a:p>
            <a:pPr algn="ctr"/>
            <a:r>
              <a:rPr lang="en-US" sz="4000" dirty="0" smtClean="0">
                <a:latin typeface="Times New Roman" panose="02020603050405020304" pitchFamily="18" charset="0"/>
                <a:ea typeface="HK Modular"/>
                <a:cs typeface="Times New Roman" panose="02020603050405020304" pitchFamily="18" charset="0"/>
                <a:sym typeface="HK Modular"/>
              </a:rPr>
              <a:t>CONCLUSION</a:t>
            </a:r>
            <a:endParaRPr lang="en-US" sz="4000" dirty="0">
              <a:latin typeface="Times New Roman" panose="02020603050405020304" pitchFamily="18" charset="0"/>
              <a:ea typeface="HK Modular"/>
              <a:cs typeface="Times New Roman" panose="02020603050405020304" pitchFamily="18" charset="0"/>
              <a:sym typeface="HK Modular"/>
            </a:endParaRPr>
          </a:p>
          <a:p>
            <a:pPr algn="ctr"/>
            <a:endParaRPr lang="en-US" altLang="en-IN" sz="4000" b="1" dirty="0">
              <a:latin typeface="Times New Roman" panose="02020603050405020304" pitchFamily="18" charset="0"/>
              <a:ea typeface="Poppins Bold"/>
              <a:cs typeface="Times New Roman" panose="02020603050405020304" pitchFamily="18" charset="0"/>
              <a:sym typeface="Poppins Bold"/>
            </a:endParaRPr>
          </a:p>
        </p:txBody>
      </p:sp>
      <p:sp>
        <p:nvSpPr>
          <p:cNvPr id="3" name="Text Box 2"/>
          <p:cNvSpPr txBox="1"/>
          <p:nvPr/>
        </p:nvSpPr>
        <p:spPr>
          <a:xfrm>
            <a:off x="859790" y="1736725"/>
            <a:ext cx="10471785" cy="4291965"/>
          </a:xfrm>
          <a:prstGeom prst="rect">
            <a:avLst/>
          </a:prstGeom>
        </p:spPr>
        <p:txBody>
          <a:bodyPr wrap="square">
            <a:noAutofit/>
          </a:bodyPr>
          <a:p>
            <a:pPr indent="457200" algn="just">
              <a:lnSpc>
                <a:spcPct val="140000"/>
              </a:lnSpc>
            </a:pPr>
            <a:r>
              <a:rPr sz="2000">
                <a:latin typeface="Times New Roman" panose="02020603050405020304" pitchFamily="18" charset="0"/>
                <a:cs typeface="Times New Roman" panose="02020603050405020304" pitchFamily="18" charset="0"/>
              </a:rPr>
              <a:t>The </a:t>
            </a:r>
            <a:r>
              <a:rPr lang="en-IN" sz="2000">
                <a:latin typeface="Times New Roman" panose="02020603050405020304" pitchFamily="18" charset="0"/>
                <a:cs typeface="Times New Roman" panose="02020603050405020304" pitchFamily="18" charset="0"/>
              </a:rPr>
              <a:t>Advance and Secure Web-Based </a:t>
            </a:r>
            <a:r>
              <a:rPr sz="2000">
                <a:latin typeface="Times New Roman" panose="02020603050405020304" pitchFamily="18" charset="0"/>
                <a:cs typeface="Times New Roman" panose="02020603050405020304" pitchFamily="18" charset="0"/>
              </a:rPr>
              <a:t>Auction System project successfully delivers a secure, user-friendly platform that facilitates online sealed-bid auctions between sellers and buyers. By implementing user verification, structured data handling, and a confidential bidding process, the system ensures fairness and trust throughout the auction lifecycle. The use of modern technologies like ASP.NET Core MVC and Entity Framework makes the system efficient and scalable. This project not only replicates the traditional auction process in a digital environment but also enhances it with accessibility, privacy, and automation. Overall, the system provides a practical solution for conducting auctions online, with real-world applications in areas such as art sales, collectibles, and e-commerce.</a:t>
            </a:r>
            <a:endParaRPr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9"/>
          <p:cNvSpPr txBox="1"/>
          <p:nvPr/>
        </p:nvSpPr>
        <p:spPr>
          <a:xfrm>
            <a:off x="1242770" y="498036"/>
            <a:ext cx="9706460" cy="923330"/>
          </a:xfrm>
          <a:prstGeom prst="rect">
            <a:avLst/>
          </a:prstGeom>
        </p:spPr>
        <p:txBody>
          <a:bodyPr lIns="0" tIns="0" rIns="0" bIns="0" rtlCol="0" anchor="t">
            <a:spAutoFit/>
          </a:bodyPr>
          <a:p>
            <a:pPr algn="ctr">
              <a:lnSpc>
                <a:spcPts val="8065"/>
              </a:lnSpc>
              <a:spcBef>
                <a:spcPct val="0"/>
              </a:spcBef>
            </a:pPr>
            <a:r>
              <a:rPr lang="en-US" sz="4400" dirty="0" smtClean="0">
                <a:latin typeface="Times New Roman" panose="02020603050405020304" pitchFamily="18" charset="0"/>
                <a:ea typeface="HK Modular"/>
                <a:cs typeface="Times New Roman" panose="02020603050405020304" pitchFamily="18" charset="0"/>
                <a:sym typeface="HK Modular"/>
              </a:rPr>
              <a:t>REFERENCES</a:t>
            </a:r>
            <a:endParaRPr lang="en-US" sz="4400" dirty="0">
              <a:latin typeface="Times New Roman" panose="02020603050405020304" pitchFamily="18" charset="0"/>
              <a:ea typeface="HK Modular"/>
              <a:cs typeface="Times New Roman" panose="02020603050405020304" pitchFamily="18" charset="0"/>
              <a:sym typeface="HK Modular"/>
            </a:endParaRPr>
          </a:p>
        </p:txBody>
      </p:sp>
      <p:sp>
        <p:nvSpPr>
          <p:cNvPr id="2" name="Rectangle 4"/>
          <p:cNvSpPr>
            <a:spLocks noChangeArrowheads="1"/>
          </p:cNvSpPr>
          <p:nvPr/>
        </p:nvSpPr>
        <p:spPr bwMode="auto">
          <a:xfrm>
            <a:off x="212281" y="3415056"/>
            <a:ext cx="11767438" cy="706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pPr>
            <a:endPar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pPr>
            <a:endPar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4"/>
          <p:cNvSpPr>
            <a:spLocks noChangeArrowheads="1"/>
          </p:cNvSpPr>
          <p:nvPr/>
        </p:nvSpPr>
        <p:spPr bwMode="auto">
          <a:xfrm>
            <a:off x="212916" y="2228876"/>
            <a:ext cx="11767438" cy="3969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342900" marR="0" lvl="0" indent="-342900" algn="just" defTabSz="914400" rtl="0" eaLnBrk="0" fontAlgn="base" latinLnBrk="0" hangingPunct="0">
              <a:lnSpc>
                <a:spcPct val="90000"/>
              </a:lnSpc>
              <a:spcBef>
                <a:spcPct val="0"/>
              </a:spcBef>
              <a:spcAft>
                <a:spcPct val="0"/>
              </a:spcAft>
              <a:buClrTx/>
              <a:buSzTx/>
              <a:buFont typeface="Wingdings" panose="05000000000000000000" pitchFamily="2" charset="2"/>
              <a:buChar char="Ø"/>
            </a:pP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Albert, M. R. (n.d.). "E -Buyer Beware:Why Online Auction Fraud Should Be Regulated. American BusinessLawJournal.</a:t>
            </a:r>
            <a:endPar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90000"/>
              </a:lnSpc>
              <a:spcBef>
                <a:spcPct val="0"/>
              </a:spcBef>
              <a:spcAft>
                <a:spcPct val="0"/>
              </a:spcAft>
              <a:buClrTx/>
              <a:buSzTx/>
              <a:buFont typeface="Wingdings" panose="05000000000000000000" pitchFamily="2" charset="2"/>
              <a:buChar char="Ø"/>
            </a:pPr>
            <a:endPar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90000"/>
              </a:lnSpc>
              <a:spcBef>
                <a:spcPct val="0"/>
              </a:spcBef>
              <a:spcAft>
                <a:spcPct val="0"/>
              </a:spcAft>
              <a:buClrTx/>
              <a:buSzTx/>
              <a:buFont typeface="Wingdings" panose="05000000000000000000" pitchFamily="2" charset="2"/>
              <a:buChar char="Ø"/>
            </a:pP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Benjamin J. Ford, H. X. (2012). “A Real Time Self-Adaptive Classifier for Identifying Suspicious Bidders in Online Auctions”. Published by Oxford University Press on behalf of The British Computer Society.</a:t>
            </a:r>
            <a:endPar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90000"/>
              </a:lnSpc>
              <a:spcBef>
                <a:spcPct val="0"/>
              </a:spcBef>
              <a:spcAft>
                <a:spcPct val="0"/>
              </a:spcAft>
              <a:buClrTx/>
              <a:buSzTx/>
              <a:buFont typeface="Wingdings" panose="05000000000000000000" pitchFamily="2" charset="2"/>
              <a:buChar char="Ø"/>
            </a:pPr>
            <a:endPar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90000"/>
              </a:lnSpc>
              <a:spcBef>
                <a:spcPct val="0"/>
              </a:spcBef>
              <a:spcAft>
                <a:spcPct val="0"/>
              </a:spcAft>
              <a:buClrTx/>
              <a:buSzTx/>
              <a:buFont typeface="Wingdings" panose="05000000000000000000" pitchFamily="2" charset="2"/>
              <a:buChar char="Ø"/>
            </a:pP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 R. (2009). Research and Design of Online Auction System Based on the Campus Network Using UML. Second Pacific-Asia Conference on Web Mining and Web-based Application.</a:t>
            </a:r>
            <a:endPar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90000"/>
              </a:lnSpc>
              <a:spcBef>
                <a:spcPct val="0"/>
              </a:spcBef>
              <a:spcAft>
                <a:spcPct val="0"/>
              </a:spcAft>
              <a:buClrTx/>
              <a:buSzTx/>
              <a:buFont typeface="Wingdings" panose="05000000000000000000" pitchFamily="2" charset="2"/>
              <a:buChar char="Ø"/>
            </a:pPr>
            <a:endPar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90000"/>
              </a:lnSpc>
              <a:spcBef>
                <a:spcPct val="0"/>
              </a:spcBef>
              <a:spcAft>
                <a:spcPct val="0"/>
              </a:spcAft>
              <a:buClrTx/>
              <a:buSzTx/>
              <a:buFont typeface="Wingdings" panose="05000000000000000000" pitchFamily="2" charset="2"/>
              <a:buChar char="Ø"/>
            </a:pP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Chuan-Hoo Tan, H.-H. T. (2010). “Online Auction: The Effects of Transaction Probability and Listing Price on A Sellers Decision-Making Behaviour”. Electron Markets, 20:6779.</a:t>
            </a:r>
            <a:endPar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90000"/>
              </a:lnSpc>
              <a:spcBef>
                <a:spcPct val="0"/>
              </a:spcBef>
              <a:spcAft>
                <a:spcPct val="0"/>
              </a:spcAft>
              <a:buClrTx/>
              <a:buSzTx/>
              <a:buFont typeface="Wingdings" panose="05000000000000000000" pitchFamily="2" charset="2"/>
              <a:buChar char="Ø"/>
            </a:pPr>
            <a:endPar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90000"/>
              </a:lnSpc>
              <a:spcBef>
                <a:spcPct val="0"/>
              </a:spcBef>
              <a:spcAft>
                <a:spcPct val="0"/>
              </a:spcAft>
              <a:buClrTx/>
              <a:buSzTx/>
              <a:buFont typeface="Wingdings" panose="05000000000000000000" pitchFamily="2" charset="2"/>
              <a:buChar char="Ø"/>
            </a:pP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Costin BadicaCostin, S. I. (2014). Distributed agent-based online auction system. Computing and Informatics, 33(3):518-552. </a:t>
            </a:r>
            <a:endPar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9"/>
          <p:cNvSpPr txBox="1"/>
          <p:nvPr/>
        </p:nvSpPr>
        <p:spPr>
          <a:xfrm>
            <a:off x="1078792" y="2438255"/>
            <a:ext cx="10380143" cy="1769715"/>
          </a:xfrm>
          <a:prstGeom prst="rect">
            <a:avLst/>
          </a:prstGeom>
        </p:spPr>
        <p:txBody>
          <a:bodyPr wrap="square" lIns="0" tIns="0" rIns="0" bIns="0" rtlCol="0" anchor="t">
            <a:spAutoFit/>
          </a:bodyPr>
          <a:lstStyle/>
          <a:p>
            <a:pPr algn="ctr">
              <a:spcBef>
                <a:spcPct val="0"/>
              </a:spcBef>
            </a:pPr>
            <a:r>
              <a:rPr lang="en-US" sz="11500" dirty="0" smtClean="0">
                <a:latin typeface="Times New Roman" panose="02020603050405020304" pitchFamily="18" charset="0"/>
                <a:ea typeface="HK Modular"/>
                <a:cs typeface="Times New Roman" panose="02020603050405020304" pitchFamily="18" charset="0"/>
                <a:sym typeface="HK Modular"/>
              </a:rPr>
              <a:t>THANK YOU!</a:t>
            </a:r>
            <a:endParaRPr lang="en-US" sz="11500" dirty="0">
              <a:latin typeface="Times New Roman" panose="02020603050405020304" pitchFamily="18" charset="0"/>
              <a:ea typeface="HK Modular"/>
              <a:cs typeface="Times New Roman" panose="02020603050405020304" pitchFamily="18" charset="0"/>
              <a:sym typeface="HK Modular"/>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12442</Words>
  <Application>WPS Slides</Application>
  <PresentationFormat>Widescreen</PresentationFormat>
  <Paragraphs>368</Paragraphs>
  <Slides>32</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32</vt:i4>
      </vt:variant>
    </vt:vector>
  </HeadingPairs>
  <TitlesOfParts>
    <vt:vector size="47" baseType="lpstr">
      <vt:lpstr>Arial</vt:lpstr>
      <vt:lpstr>SimSun</vt:lpstr>
      <vt:lpstr>Wingdings</vt:lpstr>
      <vt:lpstr>Times New Roman</vt:lpstr>
      <vt:lpstr>Poppins Bold</vt:lpstr>
      <vt:lpstr>Segoe Print</vt:lpstr>
      <vt:lpstr>Poppins</vt:lpstr>
      <vt:lpstr>HK Modular</vt:lpstr>
      <vt:lpstr>Times New Roman</vt:lpstr>
      <vt:lpstr>Microsoft YaHei</vt:lpstr>
      <vt:lpstr>Arial Unicode MS</vt:lpstr>
      <vt:lpstr>Calibri Light</vt:lpstr>
      <vt:lpstr>Calibri</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Robert Loitongbam</cp:lastModifiedBy>
  <cp:revision>52</cp:revision>
  <dcterms:created xsi:type="dcterms:W3CDTF">2025-04-10T14:24:00Z</dcterms:created>
  <dcterms:modified xsi:type="dcterms:W3CDTF">2025-05-08T15:35:42Z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1261B8F1A4F1453DA4EEF3ABD4EEB467_11</vt:lpwstr>
  </property>
  <property fmtid="{D5CDD505-2E9C-101B-9397-08002B2CF9AE}" pid="3" name="KSOProductBuildVer">
    <vt:lpwstr>1033-12.2.0.20795</vt:lpwstr>
  </property>
</Properties>
</file>